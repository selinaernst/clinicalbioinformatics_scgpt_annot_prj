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4" r:id="rId3"/>
    <p:sldId id="285" r:id="rId4"/>
    <p:sldId id="286" r:id="rId5"/>
    <p:sldId id="267" r:id="rId6"/>
    <p:sldId id="269" r:id="rId7"/>
    <p:sldId id="270" r:id="rId8"/>
    <p:sldId id="266" r:id="rId9"/>
    <p:sldId id="264" r:id="rId10"/>
    <p:sldId id="261" r:id="rId11"/>
    <p:sldId id="265" r:id="rId12"/>
    <p:sldId id="274" r:id="rId13"/>
    <p:sldId id="275" r:id="rId14"/>
    <p:sldId id="272" r:id="rId15"/>
    <p:sldId id="273" r:id="rId16"/>
    <p:sldId id="276" r:id="rId17"/>
    <p:sldId id="277" r:id="rId18"/>
    <p:sldId id="278" r:id="rId19"/>
    <p:sldId id="279" r:id="rId20"/>
    <p:sldId id="281" r:id="rId21"/>
    <p:sldId id="282" r:id="rId22"/>
    <p:sldId id="280" r:id="rId23"/>
    <p:sldId id="287" r:id="rId24"/>
    <p:sldId id="288" r:id="rId25"/>
    <p:sldId id="283" r:id="rId26"/>
    <p:sldId id="291" r:id="rId27"/>
    <p:sldId id="292" r:id="rId28"/>
    <p:sldId id="294" r:id="rId29"/>
    <p:sldId id="293" r:id="rId30"/>
    <p:sldId id="289" r:id="rId31"/>
    <p:sldId id="29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31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21"/>
    <p:restoredTop sz="94570"/>
  </p:normalViewPr>
  <p:slideViewPr>
    <p:cSldViewPr snapToGrid="0">
      <p:cViewPr>
        <p:scale>
          <a:sx n="310" d="100"/>
          <a:sy n="310" d="100"/>
        </p:scale>
        <p:origin x="-13600" y="-3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2C51D6-B99F-B94C-9D2D-D70AFE2E3D03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05185-E4DE-504C-81AF-B7CD91AF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80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963B8-58D2-711D-0379-F115BA00B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03DED-5E7B-DD89-9925-447328449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3BCEB-B194-2C0E-2C0C-097DC59E7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0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C0710-4B4D-1DEE-EF62-29A284E6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01827"/>
          </a:xfrm>
        </p:spPr>
        <p:txBody>
          <a:bodyPr>
            <a:no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644BC-449B-1EA7-73D9-0C15B692B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3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FFB49-AA79-E937-FF85-F142CDEB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47C0E-FAEF-A6C1-74C1-9277E716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95267"/>
            <a:ext cx="2743200" cy="252416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59449A5B-0CAB-6D41-B84B-BE4E5A2883B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60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B353-4BAA-D2F1-EDDA-EDF40BCF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FB275-3CBD-B9E1-F8C9-F6C25A240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D44C1-897D-ADBD-5E8B-032EF69758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037031-6B53-4440-845B-FCA5CB894D84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2D2AC-9A15-2D37-C263-786DFE531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CCF54-4E4A-2AC0-4E9D-68E1D373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5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44FC9-F14D-D772-3329-A335885E8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DC85-850F-5CBA-4C75-E6C82E5495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8BDAD-0A69-E7D3-28B1-D823B1D82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088F9-E8BA-2BFB-1BF8-187D4A07A2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B27AE0-88BD-3144-B8C5-88ED983DB068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05E98-2849-7D25-A8AE-900EBDCFF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9825-6CCC-619F-BBFE-E44FFD85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71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20A52-865B-181C-5474-70D2729FC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C45A-EC6B-5751-A09E-422B3F708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4AEE6-B707-E340-BFAD-CDE578750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FB12E-67BA-011E-2786-E9E55CB4B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5CEDE-C6CF-7D3E-1111-FF0A17328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DB3AC-2A3C-C8EB-141F-212A7BB6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DCDEF0-C960-C94E-860B-32E524FB7F17}" type="datetime1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D20405-4625-039E-B448-FA456FA9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F3781-35AE-70A7-0E39-3916B88F3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1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50FD-8236-7AD5-63D1-27B26942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CB42D-C941-B555-4C06-74C05922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66133D-7C7F-F648-AE60-9555F1394CB6}" type="datetime1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DE5CD1-703F-DB3F-251F-F626162C3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F4586-F1E0-AAA0-9808-53F5E236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9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164F6-5015-C1C9-EA1C-B9143E9AA0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E2BF11-BF8D-1041-8060-070630E59BFE}" type="datetime1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86FEC-6627-9CBB-3283-18F966F4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27742-AE35-BC32-F465-1A1207B5D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4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4B44-A12E-DAED-9BB1-139FE1B0B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7059A-04E5-FC37-870E-7218D839E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11F5B-AB44-4F5E-DCCB-28FCD4445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9997C-AEAB-B788-A166-373919DF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34E8A-1FB5-1346-8F40-45BCDD534467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15BC6-6ABC-666C-0296-DB8C7E69D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4B6C7-AF4D-7ABC-7E02-AFB6F3A93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7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25E3D-9C3A-4AF2-7251-0AD56067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E8E4E-FE04-FD55-14AE-615BE3E7356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7AD15-FA36-9D1B-906E-1C7A92D89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0E314-6BBB-E26B-F1DC-8B7144BB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20A583-CA32-2E4A-B0FB-DAB55DE70994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0F777-6119-3642-E45C-DC1D165D1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1FEBA-2428-FAED-E086-6B5134853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2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D245-4094-2CA3-B61A-72DB04FAF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C237E-0D1D-08F4-6CB7-3CE5C110D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E7721-BD7A-CC6B-2889-05078E37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21D662-6250-3B45-B508-60B98F50B122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81B0F-AA43-1239-DCFE-ACF4901A7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2B43F-A445-3E28-9674-B0206364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5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F6723-315B-28FD-DE8A-1EC7A3BF3C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6611A7-2E0A-9244-9D20-7E402FF06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42D2A-7ECE-0AE2-F5D1-F84AFF9F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847EFA-4230-9445-A5C8-DE63C42C69D3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811D1-E6BE-2124-1808-48A83FDA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44A1B-43E4-A7CA-AD2A-A450C7CB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3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781D0-6235-1355-DF5F-64A80081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ECF00-A247-C062-5B48-AF9E53302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99B3B-796A-5984-F21B-0AB2F9861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5188C-8309-2A4F-AC27-7A6426421916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EA380-98EF-B410-944E-490DD6730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21C01-2B0C-F44E-B785-91DED1633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725" y="6600825"/>
            <a:ext cx="676275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49A5B-0CAB-6D41-B84B-BE4E5A288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0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7349-DBAE-A817-5861-30E3A51A49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Cell type annotation using a single-cell  foundation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640B8-1807-4555-E62C-F0C586C7B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0" y="6472238"/>
            <a:ext cx="1524000" cy="385762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US" dirty="0"/>
              <a:t>Selina Ernst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6A8F458-D65B-D66A-5A55-126F74E80BD8}"/>
              </a:ext>
            </a:extLst>
          </p:cNvPr>
          <p:cNvSpPr txBox="1">
            <a:spLocks/>
          </p:cNvSpPr>
          <p:nvPr/>
        </p:nvSpPr>
        <p:spPr>
          <a:xfrm>
            <a:off x="0" y="6472238"/>
            <a:ext cx="5567363" cy="38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Research Internship </a:t>
            </a:r>
            <a:r>
              <a:rPr lang="en-US" dirty="0" err="1"/>
              <a:t>KiTZ</a:t>
            </a:r>
            <a:r>
              <a:rPr lang="en-US" dirty="0"/>
              <a:t> 27.07 – 30.10.2026</a:t>
            </a:r>
          </a:p>
        </p:txBody>
      </p:sp>
    </p:spTree>
    <p:extLst>
      <p:ext uri="{BB962C8B-B14F-4D97-AF65-F5344CB8AC3E}">
        <p14:creationId xmlns:p14="http://schemas.microsoft.com/office/powerpoint/2010/main" val="21043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B8FE-29F3-E569-7718-686622B49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EBF82-9F0C-0323-1A77-F9E1E382D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9449A5B-0CAB-6D41-B84B-BE4E5A2883B7}" type="slidenum">
              <a:rPr lang="en-US" smtClean="0"/>
              <a:pPr algn="r"/>
              <a:t>2</a:t>
            </a:fld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FF2AB9-CDC2-C606-3180-2769CAA6A140}"/>
              </a:ext>
            </a:extLst>
          </p:cNvPr>
          <p:cNvSpPr/>
          <p:nvPr/>
        </p:nvSpPr>
        <p:spPr>
          <a:xfrm>
            <a:off x="4908395" y="2653990"/>
            <a:ext cx="2375210" cy="1550019"/>
          </a:xfrm>
          <a:prstGeom prst="roundRect">
            <a:avLst/>
          </a:prstGeom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Foundation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522496-FE62-68E9-CB4F-C1DC9AF7732B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7283605" y="3428998"/>
            <a:ext cx="1694985" cy="2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4D636DF-6BCE-4E3D-7E8C-75A5CDD5CEB2}"/>
              </a:ext>
            </a:extLst>
          </p:cNvPr>
          <p:cNvSpPr/>
          <p:nvPr/>
        </p:nvSpPr>
        <p:spPr>
          <a:xfrm>
            <a:off x="8985297" y="2152281"/>
            <a:ext cx="2676616" cy="2553429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Tasks</a:t>
            </a:r>
            <a:endParaRPr lang="en-US" dirty="0">
              <a:solidFill>
                <a:srgbClr val="64310F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C08874-4E17-6F85-4207-5C01FC33943F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>
            <a:off x="3213411" y="3428998"/>
            <a:ext cx="1694984" cy="2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78661F-DBCA-5AB5-B7B4-CD4CC53A89BC}"/>
              </a:ext>
            </a:extLst>
          </p:cNvPr>
          <p:cNvSpPr/>
          <p:nvPr/>
        </p:nvSpPr>
        <p:spPr>
          <a:xfrm>
            <a:off x="536795" y="2152281"/>
            <a:ext cx="2676616" cy="2553433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Large &amp; Diverse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4A0D99-A222-91CB-D59D-1C9C377ED5D7}"/>
              </a:ext>
            </a:extLst>
          </p:cNvPr>
          <p:cNvSpPr txBox="1"/>
          <p:nvPr/>
        </p:nvSpPr>
        <p:spPr>
          <a:xfrm>
            <a:off x="7468811" y="3059666"/>
            <a:ext cx="132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4310F"/>
                </a:solidFill>
              </a:rPr>
              <a:t>Adaptation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D4DD11-303E-15F6-214B-F9BEA87E8AC5}"/>
              </a:ext>
            </a:extLst>
          </p:cNvPr>
          <p:cNvSpPr txBox="1"/>
          <p:nvPr/>
        </p:nvSpPr>
        <p:spPr>
          <a:xfrm>
            <a:off x="3372597" y="3059666"/>
            <a:ext cx="132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4310F"/>
                </a:solidFill>
              </a:rPr>
              <a:t>Training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B24815-34E3-02B1-B4CC-63C531848D88}"/>
              </a:ext>
            </a:extLst>
          </p:cNvPr>
          <p:cNvSpPr txBox="1"/>
          <p:nvPr/>
        </p:nvSpPr>
        <p:spPr>
          <a:xfrm>
            <a:off x="838200" y="2828832"/>
            <a:ext cx="20275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Structured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Audio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Videos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14E76F-D357-4AC9-7D7B-8E2B6AE70899}"/>
              </a:ext>
            </a:extLst>
          </p:cNvPr>
          <p:cNvSpPr txBox="1"/>
          <p:nvPr/>
        </p:nvSpPr>
        <p:spPr>
          <a:xfrm>
            <a:off x="9137776" y="2828832"/>
            <a:ext cx="25241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Information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Instruction following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Object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Image captioning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Q&amp;A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138010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74EF-3D2B-A1C6-105F-78DC890E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 Models in cell biology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6B270-2E0A-D12F-506B-6C698A075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Instead of words forming sentences, we have genes and cells</a:t>
            </a:r>
          </a:p>
          <a:p>
            <a:r>
              <a:rPr lang="en-US" dirty="0"/>
              <a:t>Idea:</a:t>
            </a:r>
          </a:p>
          <a:p>
            <a:pPr lvl="1"/>
            <a:r>
              <a:rPr lang="en-US" dirty="0"/>
              <a:t>Learn gene-gene interactions, cell characteristics, network dynamics </a:t>
            </a:r>
          </a:p>
          <a:p>
            <a:pPr lvl="1"/>
            <a:r>
              <a:rPr lang="en-US" dirty="0"/>
              <a:t>Perform well even in areas with limited data available</a:t>
            </a:r>
          </a:p>
          <a:p>
            <a:r>
              <a:rPr lang="en-US" dirty="0"/>
              <a:t>Main characteristics: </a:t>
            </a:r>
          </a:p>
          <a:p>
            <a:pPr lvl="1"/>
            <a:r>
              <a:rPr lang="en-US" dirty="0"/>
              <a:t>Large-scale: trained with vast amount of diverse data</a:t>
            </a:r>
          </a:p>
          <a:p>
            <a:pPr lvl="1"/>
            <a:r>
              <a:rPr lang="en-US" dirty="0"/>
              <a:t>Multipurpose: serve as foundation for variety of downstream tasks</a:t>
            </a:r>
          </a:p>
          <a:p>
            <a:pPr lvl="1"/>
            <a:r>
              <a:rPr lang="en-US" dirty="0"/>
              <a:t>Fine-Tuning / Adaptation</a:t>
            </a:r>
          </a:p>
          <a:p>
            <a:pPr lvl="2"/>
            <a:r>
              <a:rPr lang="en-US" dirty="0"/>
              <a:t>General-purpose model is adapted to perform specific tasks</a:t>
            </a:r>
          </a:p>
          <a:p>
            <a:pPr lvl="2"/>
            <a:r>
              <a:rPr lang="en-US" dirty="0"/>
              <a:t>Trained on much smaller task-specific data 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 err="1"/>
              <a:t>Geneformer</a:t>
            </a:r>
            <a:r>
              <a:rPr lang="en-US" dirty="0"/>
              <a:t> (</a:t>
            </a:r>
            <a:r>
              <a:rPr lang="en-US" dirty="0" err="1"/>
              <a:t>Theodoris</a:t>
            </a:r>
            <a:r>
              <a:rPr lang="en-US" dirty="0"/>
              <a:t> et al., Nature, 2023)</a:t>
            </a:r>
          </a:p>
          <a:p>
            <a:pPr lvl="1"/>
            <a:r>
              <a:rPr lang="en-US" dirty="0" err="1"/>
              <a:t>scFoundation</a:t>
            </a:r>
            <a:r>
              <a:rPr lang="en-US" dirty="0"/>
              <a:t> (Hao et al., Nature Methods, 2024)</a:t>
            </a:r>
          </a:p>
          <a:p>
            <a:pPr lvl="1"/>
            <a:r>
              <a:rPr lang="en-US" dirty="0"/>
              <a:t>scGPT (Cui et al., Nature Methods, 2024)</a:t>
            </a:r>
          </a:p>
          <a:p>
            <a:pPr lvl="1"/>
            <a:r>
              <a:rPr lang="en-US" dirty="0"/>
              <a:t>UCE: Universal cell embedding foundation model (Rosen et al., Nature, 2026)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CF1E7-88C2-AFB3-0F8C-9B5E8019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9449A5B-0CAB-6D41-B84B-BE4E5A2883B7}" type="slidenum">
              <a:rPr lang="en-US" smtClean="0"/>
              <a:pPr algn="r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97473-8E12-F25D-B85D-B9143E88E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scGPT - single-cell foundation model based on GPT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C4DB8-4D76-2BFE-0290-CF77E33A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9449A5B-0CAB-6D41-B84B-BE4E5A2883B7}" type="slidenum">
              <a:rPr lang="en-US" smtClean="0"/>
              <a:pPr algn="r"/>
              <a:t>4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0E0810-4D62-2A26-C7CD-150C1E25586F}"/>
              </a:ext>
            </a:extLst>
          </p:cNvPr>
          <p:cNvSpPr/>
          <p:nvPr/>
        </p:nvSpPr>
        <p:spPr>
          <a:xfrm>
            <a:off x="4908395" y="2653990"/>
            <a:ext cx="2375210" cy="1550019"/>
          </a:xfrm>
          <a:prstGeom prst="roundRect">
            <a:avLst/>
          </a:prstGeom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scGPT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Pre-trained model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498BC4-9003-7BC2-1072-875FD31C7ACE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283605" y="3428998"/>
            <a:ext cx="1694985" cy="2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B7360BB-3498-44BC-0DF6-E11C24FDCDC7}"/>
              </a:ext>
            </a:extLst>
          </p:cNvPr>
          <p:cNvSpPr/>
          <p:nvPr/>
        </p:nvSpPr>
        <p:spPr>
          <a:xfrm>
            <a:off x="8985297" y="2152281"/>
            <a:ext cx="2676616" cy="2553429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Tasks</a:t>
            </a:r>
            <a:endParaRPr lang="en-US" dirty="0">
              <a:solidFill>
                <a:srgbClr val="64310F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D83518-6BB7-70B4-64CB-D499F6ACE0CE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>
            <a:off x="3213411" y="3428998"/>
            <a:ext cx="1694984" cy="2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09BE264-305C-0CE8-8072-B4E6451614FB}"/>
              </a:ext>
            </a:extLst>
          </p:cNvPr>
          <p:cNvSpPr/>
          <p:nvPr/>
        </p:nvSpPr>
        <p:spPr>
          <a:xfrm>
            <a:off x="536795" y="2152281"/>
            <a:ext cx="2676616" cy="2553433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Large &amp; Diverse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E81E7-7ED8-5BB0-400A-2DB18A08BE76}"/>
              </a:ext>
            </a:extLst>
          </p:cNvPr>
          <p:cNvSpPr txBox="1"/>
          <p:nvPr/>
        </p:nvSpPr>
        <p:spPr>
          <a:xfrm>
            <a:off x="7468811" y="3059666"/>
            <a:ext cx="132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4310F"/>
                </a:solidFill>
              </a:rPr>
              <a:t>Adaptation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926F21-48C5-9812-1A59-515D41362B1C}"/>
              </a:ext>
            </a:extLst>
          </p:cNvPr>
          <p:cNvSpPr txBox="1"/>
          <p:nvPr/>
        </p:nvSpPr>
        <p:spPr>
          <a:xfrm>
            <a:off x="3372597" y="3059666"/>
            <a:ext cx="132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4310F"/>
                </a:solidFill>
              </a:rPr>
              <a:t>Training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5B45A9-B8B3-8FBB-69B3-DC34F8F68847}"/>
              </a:ext>
            </a:extLst>
          </p:cNvPr>
          <p:cNvSpPr txBox="1"/>
          <p:nvPr/>
        </p:nvSpPr>
        <p:spPr>
          <a:xfrm>
            <a:off x="838200" y="3059666"/>
            <a:ext cx="20275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64310F"/>
                </a:solidFill>
              </a:rPr>
              <a:t>Non-spatial RNA sequencing data from CZ </a:t>
            </a:r>
            <a:r>
              <a:rPr lang="en-US" sz="1600" dirty="0" err="1">
                <a:solidFill>
                  <a:srgbClr val="64310F"/>
                </a:solidFill>
              </a:rPr>
              <a:t>CELLxGENE</a:t>
            </a:r>
            <a:r>
              <a:rPr lang="en-US" sz="1600" dirty="0">
                <a:solidFill>
                  <a:srgbClr val="64310F"/>
                </a:solidFill>
              </a:rPr>
              <a:t> Discover Census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A87261-DE61-D54E-C284-F94E94BEBEE0}"/>
              </a:ext>
            </a:extLst>
          </p:cNvPr>
          <p:cNvSpPr txBox="1"/>
          <p:nvPr/>
        </p:nvSpPr>
        <p:spPr>
          <a:xfrm>
            <a:off x="9137776" y="2828832"/>
            <a:ext cx="25241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cell type annotation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multi-batch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64310F"/>
                </a:solidFill>
              </a:rPr>
              <a:t>multiomic</a:t>
            </a:r>
            <a:r>
              <a:rPr lang="en-US" sz="1600" dirty="0">
                <a:solidFill>
                  <a:srgbClr val="64310F"/>
                </a:solidFill>
              </a:rPr>
              <a:t>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perturbation response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4310F"/>
                </a:solidFill>
              </a:rPr>
              <a:t>gene network inference</a:t>
            </a:r>
          </a:p>
        </p:txBody>
      </p:sp>
    </p:spTree>
    <p:extLst>
      <p:ext uri="{BB962C8B-B14F-4D97-AF65-F5344CB8AC3E}">
        <p14:creationId xmlns:p14="http://schemas.microsoft.com/office/powerpoint/2010/main" val="194208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27312-A2D4-2E54-8BE3-9383ED109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scGPT - Applications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B9B6AF-83F8-18CE-8431-637FE5AA68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9917" t="4268" r="31064" b="82538"/>
          <a:stretch>
            <a:fillRect/>
          </a:stretch>
        </p:blipFill>
        <p:spPr>
          <a:xfrm>
            <a:off x="1971674" y="738352"/>
            <a:ext cx="2349027" cy="2817648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DC92AE31-2B0C-58D7-3E9B-1D491A5EDF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49" t="16986" r="31015" b="68393"/>
          <a:stretch>
            <a:fillRect/>
          </a:stretch>
        </p:blipFill>
        <p:spPr>
          <a:xfrm>
            <a:off x="4638675" y="827252"/>
            <a:ext cx="4931890" cy="3122448"/>
          </a:xfrm>
          <a:prstGeom prst="rect">
            <a:avLst/>
          </a:prstGeom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FA926B13-FEFE-BAD7-257A-1300B50EC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7" t="31191" r="30877" b="56929"/>
          <a:stretch>
            <a:fillRect/>
          </a:stretch>
        </p:blipFill>
        <p:spPr>
          <a:xfrm>
            <a:off x="3397250" y="3784600"/>
            <a:ext cx="4931890" cy="2536978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982E755-AE79-DEFA-8042-7EA2F18B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4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9FBCC1B2-DDBE-90C6-611C-78DC7C0492EE}"/>
              </a:ext>
            </a:extLst>
          </p:cNvPr>
          <p:cNvSpPr/>
          <p:nvPr/>
        </p:nvSpPr>
        <p:spPr>
          <a:xfrm>
            <a:off x="1053678" y="1749661"/>
            <a:ext cx="2768600" cy="38264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E49C9E8-A3C5-A5C7-B7AD-77DAC11C8B75}"/>
              </a:ext>
            </a:extLst>
          </p:cNvPr>
          <p:cNvSpPr/>
          <p:nvPr/>
        </p:nvSpPr>
        <p:spPr>
          <a:xfrm>
            <a:off x="981852" y="1834363"/>
            <a:ext cx="2768600" cy="3826470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F5F4F18-272F-0ACD-6C85-D45402AB2F7A}"/>
              </a:ext>
            </a:extLst>
          </p:cNvPr>
          <p:cNvSpPr/>
          <p:nvPr/>
        </p:nvSpPr>
        <p:spPr>
          <a:xfrm>
            <a:off x="910026" y="1919065"/>
            <a:ext cx="2768600" cy="3826470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74A02E-8BAF-7563-193A-70863C66D205}"/>
              </a:ext>
            </a:extLst>
          </p:cNvPr>
          <p:cNvSpPr/>
          <p:nvPr/>
        </p:nvSpPr>
        <p:spPr>
          <a:xfrm>
            <a:off x="838200" y="2003767"/>
            <a:ext cx="2768600" cy="38264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510A2-F6BC-B2FF-63B8-1A591B63D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Masked-attention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01591-DBD1-2C53-1EC1-1988142E9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700" y="1117600"/>
            <a:ext cx="7023100" cy="5059363"/>
          </a:xfrm>
        </p:spPr>
        <p:txBody>
          <a:bodyPr/>
          <a:lstStyle/>
          <a:p>
            <a:r>
              <a:rPr lang="en-US" dirty="0"/>
              <a:t>GPT - generative pre-trained transformer</a:t>
            </a:r>
          </a:p>
          <a:p>
            <a:r>
              <a:rPr lang="en-US" dirty="0"/>
              <a:t>Model learns gene and cell embeddings simultaneously</a:t>
            </a:r>
          </a:p>
          <a:p>
            <a:pPr lvl="1"/>
            <a:r>
              <a:rPr lang="en-US" dirty="0"/>
              <a:t>Learns gene–gene interactions at the single-cell level</a:t>
            </a:r>
          </a:p>
          <a:p>
            <a:r>
              <a:rPr lang="en-US" dirty="0"/>
              <a:t>Model Size</a:t>
            </a:r>
          </a:p>
          <a:p>
            <a:pPr lvl="1"/>
            <a:r>
              <a:rPr lang="en-US" dirty="0"/>
              <a:t>53 million parameters</a:t>
            </a:r>
          </a:p>
          <a:p>
            <a:pPr lvl="1"/>
            <a:r>
              <a:rPr lang="en-US" dirty="0"/>
              <a:t>Embedding size: 512</a:t>
            </a:r>
          </a:p>
          <a:p>
            <a:pPr lvl="1"/>
            <a:r>
              <a:rPr lang="en-US" dirty="0"/>
              <a:t>Transformer blocks: 12</a:t>
            </a:r>
          </a:p>
          <a:p>
            <a:pPr lvl="1"/>
            <a:r>
              <a:rPr lang="en-US" dirty="0"/>
              <a:t>Attention heads per block: 8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50D012-EFBF-FB9C-D36D-C01339D75632}"/>
              </a:ext>
            </a:extLst>
          </p:cNvPr>
          <p:cNvSpPr/>
          <p:nvPr/>
        </p:nvSpPr>
        <p:spPr>
          <a:xfrm>
            <a:off x="1136649" y="6176963"/>
            <a:ext cx="2082800" cy="3159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Input Embedding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A22535-D0BA-8F4D-E478-0D89253FBD40}"/>
              </a:ext>
            </a:extLst>
          </p:cNvPr>
          <p:cNvCxnSpPr>
            <a:cxnSpLocks/>
            <a:stCxn id="4" idx="0"/>
            <a:endCxn id="10" idx="2"/>
          </p:cNvCxnSpPr>
          <p:nvPr/>
        </p:nvCxnSpPr>
        <p:spPr>
          <a:xfrm flipV="1">
            <a:off x="2178049" y="5314108"/>
            <a:ext cx="1" cy="8628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3EB5A5D-B960-67ED-C0A0-4EC049A334BB}"/>
              </a:ext>
            </a:extLst>
          </p:cNvPr>
          <p:cNvSpPr/>
          <p:nvPr/>
        </p:nvSpPr>
        <p:spPr>
          <a:xfrm>
            <a:off x="1282700" y="4772486"/>
            <a:ext cx="1790700" cy="5416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Masked multi-head attention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1DFE0-B0BE-2AF0-9898-9B7CC4D1A188}"/>
              </a:ext>
            </a:extLst>
          </p:cNvPr>
          <p:cNvSpPr/>
          <p:nvPr/>
        </p:nvSpPr>
        <p:spPr>
          <a:xfrm>
            <a:off x="1282700" y="3909591"/>
            <a:ext cx="1790700" cy="3026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Layer Norm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FC46D7-390E-0386-B769-5D36AA38B024}"/>
              </a:ext>
            </a:extLst>
          </p:cNvPr>
          <p:cNvSpPr/>
          <p:nvPr/>
        </p:nvSpPr>
        <p:spPr>
          <a:xfrm>
            <a:off x="1327150" y="2206110"/>
            <a:ext cx="1790700" cy="3026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Layer Norm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8E24FC-6EE5-AE9E-2659-33AFC8AC5021}"/>
              </a:ext>
            </a:extLst>
          </p:cNvPr>
          <p:cNvSpPr/>
          <p:nvPr/>
        </p:nvSpPr>
        <p:spPr>
          <a:xfrm>
            <a:off x="1282700" y="3067714"/>
            <a:ext cx="1790700" cy="402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Feed Forward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FDD13B-7B11-78CD-96F1-1DA67799AE9E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178048" y="4214191"/>
            <a:ext cx="2" cy="5582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779FAF-BE8F-59CD-8B24-5375A04CDFE4}"/>
              </a:ext>
            </a:extLst>
          </p:cNvPr>
          <p:cNvGrpSpPr/>
          <p:nvPr/>
        </p:nvGrpSpPr>
        <p:grpSpPr>
          <a:xfrm>
            <a:off x="2057398" y="4400560"/>
            <a:ext cx="241300" cy="240446"/>
            <a:chOff x="2692400" y="1346201"/>
            <a:chExt cx="241300" cy="24044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F47DF7-4A7C-C566-FADA-08B13EB6F030}"/>
                </a:ext>
              </a:extLst>
            </p:cNvPr>
            <p:cNvSpPr/>
            <p:nvPr/>
          </p:nvSpPr>
          <p:spPr>
            <a:xfrm>
              <a:off x="2692400" y="1346201"/>
              <a:ext cx="241300" cy="24044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51FD3A5-84B3-3206-81FF-1271157715FB}"/>
                </a:ext>
              </a:extLst>
            </p:cNvPr>
            <p:cNvCxnSpPr>
              <a:cxnSpLocks/>
              <a:stCxn id="21" idx="0"/>
              <a:endCxn id="21" idx="4"/>
            </p:cNvCxnSpPr>
            <p:nvPr/>
          </p:nvCxnSpPr>
          <p:spPr>
            <a:xfrm>
              <a:off x="2813050" y="1346201"/>
              <a:ext cx="0" cy="2404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F7C40-C1A9-1C52-4BDE-0F844B63CB27}"/>
                </a:ext>
              </a:extLst>
            </p:cNvPr>
            <p:cNvCxnSpPr>
              <a:cxnSpLocks/>
              <a:stCxn id="21" idx="2"/>
              <a:endCxn id="21" idx="6"/>
            </p:cNvCxnSpPr>
            <p:nvPr/>
          </p:nvCxnSpPr>
          <p:spPr>
            <a:xfrm>
              <a:off x="2692400" y="1466424"/>
              <a:ext cx="2413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D97EC2-5A0C-E880-BF58-68CE319A64CF}"/>
              </a:ext>
            </a:extLst>
          </p:cNvPr>
          <p:cNvGrpSpPr/>
          <p:nvPr/>
        </p:nvGrpSpPr>
        <p:grpSpPr>
          <a:xfrm>
            <a:off x="2057400" y="2697182"/>
            <a:ext cx="241300" cy="240446"/>
            <a:chOff x="2692400" y="1346201"/>
            <a:chExt cx="241300" cy="240446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7DCBF27-0A0A-C032-74D9-810DA1642935}"/>
                </a:ext>
              </a:extLst>
            </p:cNvPr>
            <p:cNvSpPr/>
            <p:nvPr/>
          </p:nvSpPr>
          <p:spPr>
            <a:xfrm>
              <a:off x="2692400" y="1346201"/>
              <a:ext cx="241300" cy="24044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CFAA38D-7572-579C-DB9C-AE6B20B78B0C}"/>
                </a:ext>
              </a:extLst>
            </p:cNvPr>
            <p:cNvCxnSpPr>
              <a:cxnSpLocks/>
              <a:stCxn id="34" idx="0"/>
              <a:endCxn id="34" idx="4"/>
            </p:cNvCxnSpPr>
            <p:nvPr/>
          </p:nvCxnSpPr>
          <p:spPr>
            <a:xfrm>
              <a:off x="2813050" y="1346201"/>
              <a:ext cx="0" cy="2404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3C38DCA-D115-3537-D044-1DDF9552403A}"/>
                </a:ext>
              </a:extLst>
            </p:cNvPr>
            <p:cNvCxnSpPr>
              <a:cxnSpLocks/>
              <a:stCxn id="34" idx="2"/>
              <a:endCxn id="34" idx="6"/>
            </p:cNvCxnSpPr>
            <p:nvPr/>
          </p:nvCxnSpPr>
          <p:spPr>
            <a:xfrm>
              <a:off x="2692400" y="1466424"/>
              <a:ext cx="2413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FCD608C-0EE3-B310-9855-00868F11410E}"/>
              </a:ext>
            </a:extLst>
          </p:cNvPr>
          <p:cNvCxnSpPr>
            <a:cxnSpLocks/>
          </p:cNvCxnSpPr>
          <p:nvPr/>
        </p:nvCxnSpPr>
        <p:spPr>
          <a:xfrm flipH="1" flipV="1">
            <a:off x="2178048" y="2508728"/>
            <a:ext cx="2" cy="5589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59676DA-A850-D9F4-2E9D-2DC401405B86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178050" y="3479384"/>
            <a:ext cx="0" cy="4302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96AA7F8-1347-E102-9139-EBAFEE08C1D5}"/>
              </a:ext>
            </a:extLst>
          </p:cNvPr>
          <p:cNvGrpSpPr/>
          <p:nvPr/>
        </p:nvGrpSpPr>
        <p:grpSpPr>
          <a:xfrm>
            <a:off x="1136649" y="2817405"/>
            <a:ext cx="1041401" cy="894841"/>
            <a:chOff x="1136649" y="2817405"/>
            <a:chExt cx="1041401" cy="75777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AE11D6F-8E9A-AE0A-6D57-28964977F9AB}"/>
                </a:ext>
              </a:extLst>
            </p:cNvPr>
            <p:cNvCxnSpPr/>
            <p:nvPr/>
          </p:nvCxnSpPr>
          <p:spPr>
            <a:xfrm flipH="1">
              <a:off x="1136650" y="3575182"/>
              <a:ext cx="10414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C427047-F887-CDBD-C4B7-88F6475B9150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49" y="2817405"/>
              <a:ext cx="0" cy="7530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4585DEF-30A3-6F40-1A5D-D3209A298779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49" y="2817405"/>
              <a:ext cx="92075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AFC47EC-9E3B-FA14-46E2-5B4F7105EE17}"/>
              </a:ext>
            </a:extLst>
          </p:cNvPr>
          <p:cNvGrpSpPr/>
          <p:nvPr/>
        </p:nvGrpSpPr>
        <p:grpSpPr>
          <a:xfrm>
            <a:off x="1136649" y="4512858"/>
            <a:ext cx="1046630" cy="1184183"/>
            <a:chOff x="1136649" y="2817405"/>
            <a:chExt cx="1046630" cy="992753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B2A32F4-59DA-C31B-8BAF-009695239227}"/>
                </a:ext>
              </a:extLst>
            </p:cNvPr>
            <p:cNvCxnSpPr/>
            <p:nvPr/>
          </p:nvCxnSpPr>
          <p:spPr>
            <a:xfrm flipH="1">
              <a:off x="1141879" y="3805676"/>
              <a:ext cx="10414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B3E1BD3-8E26-59C8-79EB-16888155BFF2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49" y="2817405"/>
              <a:ext cx="0" cy="9927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9C6E33B-77E7-05B8-A709-F2436999A77E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49" y="2817405"/>
              <a:ext cx="92075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8D94ADF-DA88-29ED-8C5E-7F1EDEAFA301}"/>
              </a:ext>
            </a:extLst>
          </p:cNvPr>
          <p:cNvCxnSpPr>
            <a:cxnSpLocks/>
          </p:cNvCxnSpPr>
          <p:nvPr/>
        </p:nvCxnSpPr>
        <p:spPr>
          <a:xfrm flipH="1" flipV="1">
            <a:off x="1754024" y="5543024"/>
            <a:ext cx="892736" cy="32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891A8CA-0050-1897-CB4F-10FB36813FE3}"/>
              </a:ext>
            </a:extLst>
          </p:cNvPr>
          <p:cNvCxnSpPr>
            <a:cxnSpLocks/>
          </p:cNvCxnSpPr>
          <p:nvPr/>
        </p:nvCxnSpPr>
        <p:spPr>
          <a:xfrm flipV="1">
            <a:off x="2645388" y="5322888"/>
            <a:ext cx="1" cy="2221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32F133A-100D-6DF5-CDC5-2CEACBD91A1A}"/>
              </a:ext>
            </a:extLst>
          </p:cNvPr>
          <p:cNvCxnSpPr>
            <a:cxnSpLocks/>
          </p:cNvCxnSpPr>
          <p:nvPr/>
        </p:nvCxnSpPr>
        <p:spPr>
          <a:xfrm flipV="1">
            <a:off x="1754024" y="5322888"/>
            <a:ext cx="1" cy="2221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819551D-FFBA-907F-2DB7-F8DB086823D4}"/>
              </a:ext>
            </a:extLst>
          </p:cNvPr>
          <p:cNvCxnSpPr>
            <a:cxnSpLocks/>
          </p:cNvCxnSpPr>
          <p:nvPr/>
        </p:nvCxnSpPr>
        <p:spPr>
          <a:xfrm flipV="1">
            <a:off x="2178048" y="1625458"/>
            <a:ext cx="0" cy="570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Left Brace 89">
            <a:extLst>
              <a:ext uri="{FF2B5EF4-FFF2-40B4-BE49-F238E27FC236}">
                <a16:creationId xmlns:a16="http://schemas.microsoft.com/office/drawing/2014/main" id="{3AC37ECB-D7CC-98F9-52C2-10D25A74A1F7}"/>
              </a:ext>
            </a:extLst>
          </p:cNvPr>
          <p:cNvSpPr/>
          <p:nvPr/>
        </p:nvSpPr>
        <p:spPr>
          <a:xfrm>
            <a:off x="457895" y="2021854"/>
            <a:ext cx="199219" cy="3808383"/>
          </a:xfrm>
          <a:prstGeom prst="leftBrace">
            <a:avLst>
              <a:gd name="adj1" fmla="val 8333"/>
              <a:gd name="adj2" fmla="val 5192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59E1D17-AB44-FBBB-F504-9F0F6761B08F}"/>
              </a:ext>
            </a:extLst>
          </p:cNvPr>
          <p:cNvSpPr txBox="1"/>
          <p:nvPr/>
        </p:nvSpPr>
        <p:spPr>
          <a:xfrm>
            <a:off x="102430" y="3825787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Nx</a:t>
            </a:r>
            <a:endParaRPr lang="en-US" dirty="0"/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342C6D0C-4BA4-A5B8-E7B6-12A4BCAD6985}"/>
              </a:ext>
            </a:extLst>
          </p:cNvPr>
          <p:cNvSpPr/>
          <p:nvPr/>
        </p:nvSpPr>
        <p:spPr>
          <a:xfrm>
            <a:off x="1136649" y="1144358"/>
            <a:ext cx="2082800" cy="48193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learned gene-level Representation</a:t>
            </a:r>
          </a:p>
        </p:txBody>
      </p:sp>
      <p:sp>
        <p:nvSpPr>
          <p:cNvPr id="100" name="Slide Number Placeholder 99">
            <a:extLst>
              <a:ext uri="{FF2B5EF4-FFF2-40B4-BE49-F238E27FC236}">
                <a16:creationId xmlns:a16="http://schemas.microsoft.com/office/drawing/2014/main" id="{1EFB4C0F-2670-6D23-5271-31678A77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7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D2C5B-C4F8-2A1D-3B23-E582546A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5ED0F7F-0D93-975F-4F42-4871054B2089}"/>
              </a:ext>
            </a:extLst>
          </p:cNvPr>
          <p:cNvSpPr/>
          <p:nvPr/>
        </p:nvSpPr>
        <p:spPr>
          <a:xfrm>
            <a:off x="990600" y="5012996"/>
            <a:ext cx="4673600" cy="127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BE278-6760-936D-FD69-7988D885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embedding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BC398FA-9B21-1DFE-2BCC-A9C4DAE1B25A}"/>
              </a:ext>
            </a:extLst>
          </p:cNvPr>
          <p:cNvSpPr/>
          <p:nvPr/>
        </p:nvSpPr>
        <p:spPr>
          <a:xfrm>
            <a:off x="1143000" y="1322552"/>
            <a:ext cx="1397423" cy="756738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Gene</a:t>
            </a:r>
          </a:p>
          <a:p>
            <a:pPr algn="ctr"/>
            <a:r>
              <a:rPr lang="en-US" sz="2000" dirty="0">
                <a:solidFill>
                  <a:srgbClr val="64310F"/>
                </a:solidFill>
              </a:rPr>
              <a:t>tokens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285506-A802-FA27-5C79-8AD28927462B}"/>
              </a:ext>
            </a:extLst>
          </p:cNvPr>
          <p:cNvSpPr/>
          <p:nvPr/>
        </p:nvSpPr>
        <p:spPr>
          <a:xfrm>
            <a:off x="2628899" y="1322552"/>
            <a:ext cx="1399957" cy="756738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Expression</a:t>
            </a:r>
          </a:p>
          <a:p>
            <a:pPr algn="ctr"/>
            <a:r>
              <a:rPr lang="en-US" sz="2000" dirty="0">
                <a:solidFill>
                  <a:srgbClr val="64310F"/>
                </a:solidFill>
              </a:rPr>
              <a:t>value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174692F-16E9-BD24-49FB-49AA116E8C05}"/>
              </a:ext>
            </a:extLst>
          </p:cNvPr>
          <p:cNvSpPr/>
          <p:nvPr/>
        </p:nvSpPr>
        <p:spPr>
          <a:xfrm>
            <a:off x="4117332" y="1322552"/>
            <a:ext cx="1399955" cy="756738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Condition</a:t>
            </a:r>
          </a:p>
          <a:p>
            <a:pPr algn="ctr"/>
            <a:r>
              <a:rPr lang="en-US" sz="2000" dirty="0">
                <a:solidFill>
                  <a:srgbClr val="64310F"/>
                </a:solidFill>
              </a:rPr>
              <a:t>Token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64310F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F3C34F-8AFA-033E-8EA1-8D8BD2934BC6}"/>
              </a:ext>
            </a:extLst>
          </p:cNvPr>
          <p:cNvCxnSpPr>
            <a:cxnSpLocks/>
          </p:cNvCxnSpPr>
          <p:nvPr/>
        </p:nvCxnSpPr>
        <p:spPr>
          <a:xfrm flipH="1">
            <a:off x="3360941" y="2092657"/>
            <a:ext cx="1" cy="422610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DBB5E2-0DE9-82F0-A6DC-797833C566EC}"/>
              </a:ext>
            </a:extLst>
          </p:cNvPr>
          <p:cNvSpPr/>
          <p:nvPr/>
        </p:nvSpPr>
        <p:spPr>
          <a:xfrm>
            <a:off x="2628899" y="2501900"/>
            <a:ext cx="1399958" cy="756738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Binned</a:t>
            </a:r>
          </a:p>
          <a:p>
            <a:pPr algn="ctr"/>
            <a:r>
              <a:rPr lang="en-US" sz="2000" dirty="0">
                <a:solidFill>
                  <a:srgbClr val="64310F"/>
                </a:solidFill>
              </a:rPr>
              <a:t>value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AA0FB0-F5FB-34EC-E6E1-411836927810}"/>
              </a:ext>
            </a:extLst>
          </p:cNvPr>
          <p:cNvCxnSpPr>
            <a:cxnSpLocks/>
          </p:cNvCxnSpPr>
          <p:nvPr/>
        </p:nvCxnSpPr>
        <p:spPr>
          <a:xfrm>
            <a:off x="1885949" y="2079290"/>
            <a:ext cx="0" cy="1601958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30F6F1-2E02-D52A-641D-CEA0F60ED1C3}"/>
              </a:ext>
            </a:extLst>
          </p:cNvPr>
          <p:cNvCxnSpPr>
            <a:cxnSpLocks/>
          </p:cNvCxnSpPr>
          <p:nvPr/>
        </p:nvCxnSpPr>
        <p:spPr>
          <a:xfrm flipH="1">
            <a:off x="4817309" y="2079290"/>
            <a:ext cx="1" cy="1601958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ABF5288-057A-3789-48C5-34E6DFC838F9}"/>
              </a:ext>
            </a:extLst>
          </p:cNvPr>
          <p:cNvCxnSpPr>
            <a:cxnSpLocks/>
          </p:cNvCxnSpPr>
          <p:nvPr/>
        </p:nvCxnSpPr>
        <p:spPr>
          <a:xfrm flipH="1">
            <a:off x="3360941" y="3258638"/>
            <a:ext cx="1" cy="422610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1AB13B9-C541-D320-E631-5FD58FFFF249}"/>
              </a:ext>
            </a:extLst>
          </p:cNvPr>
          <p:cNvCxnSpPr>
            <a:cxnSpLocks/>
            <a:stCxn id="33" idx="2"/>
            <a:endCxn id="29" idx="0"/>
          </p:cNvCxnSpPr>
          <p:nvPr/>
        </p:nvCxnSpPr>
        <p:spPr>
          <a:xfrm>
            <a:off x="3330144" y="4437986"/>
            <a:ext cx="0" cy="698082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044E1AF-B14E-6F90-6286-A91B8537A395}"/>
              </a:ext>
            </a:extLst>
          </p:cNvPr>
          <p:cNvSpPr/>
          <p:nvPr/>
        </p:nvSpPr>
        <p:spPr>
          <a:xfrm>
            <a:off x="1143000" y="5136068"/>
            <a:ext cx="4374287" cy="451938"/>
          </a:xfrm>
          <a:prstGeom prst="roundRect">
            <a:avLst/>
          </a:prstGeom>
          <a:solidFill>
            <a:schemeClr val="bg1"/>
          </a:solidFill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Full Input Embedding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FA66082-E10F-73A8-0140-ADD62647300C}"/>
              </a:ext>
            </a:extLst>
          </p:cNvPr>
          <p:cNvSpPr/>
          <p:nvPr/>
        </p:nvSpPr>
        <p:spPr>
          <a:xfrm>
            <a:off x="838200" y="3681248"/>
            <a:ext cx="4298093" cy="451938"/>
          </a:xfrm>
          <a:prstGeom prst="roundRect">
            <a:avLst/>
          </a:prstGeom>
          <a:solidFill>
            <a:schemeClr val="bg1"/>
          </a:solidFill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dirty="0">
              <a:solidFill>
                <a:srgbClr val="64310F"/>
              </a:solidFill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14638AB-B66A-A01E-ABFD-E9840490778B}"/>
              </a:ext>
            </a:extLst>
          </p:cNvPr>
          <p:cNvSpPr/>
          <p:nvPr/>
        </p:nvSpPr>
        <p:spPr>
          <a:xfrm>
            <a:off x="990600" y="3833648"/>
            <a:ext cx="4374288" cy="451938"/>
          </a:xfrm>
          <a:prstGeom prst="roundRect">
            <a:avLst/>
          </a:prstGeom>
          <a:solidFill>
            <a:schemeClr val="bg1"/>
          </a:solidFill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dirty="0">
              <a:solidFill>
                <a:srgbClr val="64310F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20D7066-6CD3-79BE-5B65-4867927818F6}"/>
              </a:ext>
            </a:extLst>
          </p:cNvPr>
          <p:cNvSpPr/>
          <p:nvPr/>
        </p:nvSpPr>
        <p:spPr>
          <a:xfrm>
            <a:off x="1143000" y="3986048"/>
            <a:ext cx="4374287" cy="451938"/>
          </a:xfrm>
          <a:prstGeom prst="roundRect">
            <a:avLst/>
          </a:prstGeom>
          <a:solidFill>
            <a:schemeClr val="bg1"/>
          </a:solidFill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Separate Embedding Layers</a:t>
            </a:r>
          </a:p>
          <a:p>
            <a:pPr algn="ctr"/>
            <a:endParaRPr lang="en-US" sz="2000" dirty="0">
              <a:solidFill>
                <a:srgbClr val="64310F"/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581B292-5A3B-2B6F-26D0-914E75BB9FAF}"/>
              </a:ext>
            </a:extLst>
          </p:cNvPr>
          <p:cNvSpPr/>
          <p:nvPr/>
        </p:nvSpPr>
        <p:spPr>
          <a:xfrm>
            <a:off x="1142999" y="5690479"/>
            <a:ext cx="984249" cy="349465"/>
          </a:xfrm>
          <a:prstGeom prst="roundRect">
            <a:avLst/>
          </a:prstGeom>
          <a:solidFill>
            <a:schemeClr val="bg1"/>
          </a:solidFill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rgbClr val="64310F"/>
                </a:solidFill>
              </a:rPr>
              <a:t>Gene 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491801A-2C38-C670-354B-398B935CCE52}"/>
              </a:ext>
            </a:extLst>
          </p:cNvPr>
          <p:cNvSpPr/>
          <p:nvPr/>
        </p:nvSpPr>
        <p:spPr>
          <a:xfrm>
            <a:off x="2190748" y="5690478"/>
            <a:ext cx="984249" cy="349465"/>
          </a:xfrm>
          <a:prstGeom prst="roundRect">
            <a:avLst/>
          </a:prstGeom>
          <a:solidFill>
            <a:schemeClr val="bg1"/>
          </a:solidFill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rgbClr val="64310F"/>
                </a:solidFill>
              </a:rPr>
              <a:t>Gene 2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BBC6A96-C0F8-2FEB-F75B-1AD07F804F18}"/>
              </a:ext>
            </a:extLst>
          </p:cNvPr>
          <p:cNvSpPr/>
          <p:nvPr/>
        </p:nvSpPr>
        <p:spPr>
          <a:xfrm>
            <a:off x="4533038" y="5690477"/>
            <a:ext cx="984249" cy="349465"/>
          </a:xfrm>
          <a:prstGeom prst="roundRect">
            <a:avLst/>
          </a:prstGeom>
          <a:solidFill>
            <a:schemeClr val="bg1"/>
          </a:solidFill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rgbClr val="64310F"/>
                </a:solidFill>
              </a:rPr>
              <a:t>Gene G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F010EF64-FAEC-CC7B-5051-1EDA17117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4744" y="1117600"/>
            <a:ext cx="5429055" cy="50593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Gene tokens</a:t>
            </a:r>
          </a:p>
          <a:p>
            <a:pPr lvl="1"/>
            <a:r>
              <a:rPr lang="en-US" dirty="0"/>
              <a:t>Gene name = token</a:t>
            </a:r>
          </a:p>
          <a:p>
            <a:pPr lvl="1"/>
            <a:r>
              <a:rPr lang="en-US" dirty="0"/>
              <a:t>Gene has to be part of model vocabulary</a:t>
            </a:r>
          </a:p>
          <a:p>
            <a:pPr lvl="1"/>
            <a:r>
              <a:rPr lang="en-US" dirty="0"/>
              <a:t>Special token &lt;</a:t>
            </a:r>
            <a:r>
              <a:rPr lang="en-US" dirty="0" err="1"/>
              <a:t>cls</a:t>
            </a:r>
            <a:r>
              <a:rPr lang="en-US" dirty="0"/>
              <a:t>&gt; used to obtain the cell representation</a:t>
            </a:r>
          </a:p>
          <a:p>
            <a:pPr lvl="1"/>
            <a:endParaRPr lang="en-US" dirty="0"/>
          </a:p>
          <a:p>
            <a:r>
              <a:rPr lang="en-US" dirty="0"/>
              <a:t>Binning</a:t>
            </a:r>
          </a:p>
          <a:p>
            <a:pPr lvl="1"/>
            <a:r>
              <a:rPr lang="en-US" dirty="0"/>
              <a:t>Requires positive input values</a:t>
            </a:r>
          </a:p>
          <a:p>
            <a:pPr lvl="1"/>
            <a:r>
              <a:rPr lang="en-US" dirty="0"/>
              <a:t>Convert expression counts to relative values</a:t>
            </a:r>
          </a:p>
          <a:p>
            <a:pPr lvl="1"/>
            <a:r>
              <a:rPr lang="en-US" dirty="0"/>
              <a:t>take those continuous expression values and assign each to a discrete bin </a:t>
            </a:r>
          </a:p>
          <a:p>
            <a:pPr lvl="1"/>
            <a:r>
              <a:rPr lang="en-US" dirty="0"/>
              <a:t>Fixed number of bins (e.g. 51), </a:t>
            </a:r>
          </a:p>
          <a:p>
            <a:pPr lvl="1"/>
            <a:r>
              <a:rPr lang="en-US" dirty="0"/>
              <a:t>Bin boundaries are determined for each cell</a:t>
            </a:r>
          </a:p>
          <a:p>
            <a:pPr lvl="1"/>
            <a:r>
              <a:rPr lang="en-US" dirty="0"/>
              <a:t>Each bin contains equal fraction of expressed genes </a:t>
            </a:r>
          </a:p>
          <a:p>
            <a:pPr lvl="1"/>
            <a:endParaRPr lang="en-US" dirty="0"/>
          </a:p>
          <a:p>
            <a:r>
              <a:rPr lang="en-US" dirty="0"/>
              <a:t>Condition tokens</a:t>
            </a:r>
          </a:p>
          <a:p>
            <a:pPr lvl="1"/>
            <a:r>
              <a:rPr lang="en-US" dirty="0"/>
              <a:t>Encode contextual information about the cell</a:t>
            </a:r>
          </a:p>
          <a:p>
            <a:pPr lvl="1"/>
            <a:r>
              <a:rPr lang="en-US" dirty="0"/>
              <a:t>Relevant for fine-tuning</a:t>
            </a:r>
          </a:p>
          <a:p>
            <a:pPr lvl="1"/>
            <a:r>
              <a:rPr lang="en-US" dirty="0"/>
              <a:t>Multiple options:</a:t>
            </a:r>
          </a:p>
          <a:p>
            <a:pPr lvl="2"/>
            <a:r>
              <a:rPr lang="en-US" dirty="0"/>
              <a:t>Perturbation</a:t>
            </a:r>
          </a:p>
          <a:p>
            <a:pPr lvl="2"/>
            <a:r>
              <a:rPr lang="en-US" dirty="0"/>
              <a:t>Cell type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D2670E-B702-001B-6A0D-606B4405E226}"/>
              </a:ext>
            </a:extLst>
          </p:cNvPr>
          <p:cNvSpPr txBox="1"/>
          <p:nvPr/>
        </p:nvSpPr>
        <p:spPr>
          <a:xfrm>
            <a:off x="3657183" y="5455167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64310F"/>
                </a:solidFill>
              </a:rPr>
              <a:t>…</a:t>
            </a:r>
            <a:endParaRPr lang="en-US" sz="2400" dirty="0">
              <a:solidFill>
                <a:srgbClr val="64310F"/>
              </a:solidFill>
            </a:endParaRPr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0C364CF6-7818-6DB6-D228-AD0C9B93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12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07C4-3B48-23F2-D433-CAF2F96C0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FDFD2-3566-BC0E-34F8-753A0351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99" y="1117600"/>
            <a:ext cx="7289799" cy="5059363"/>
          </a:xfrm>
        </p:spPr>
        <p:txBody>
          <a:bodyPr/>
          <a:lstStyle/>
          <a:p>
            <a:r>
              <a:rPr lang="en-US" dirty="0"/>
              <a:t>Initial general-purpose training</a:t>
            </a:r>
          </a:p>
          <a:p>
            <a:pPr lvl="1"/>
            <a:r>
              <a:rPr lang="en-US" dirty="0"/>
              <a:t>Training data: large cell atlases</a:t>
            </a:r>
          </a:p>
          <a:p>
            <a:pPr lvl="2"/>
            <a:r>
              <a:rPr lang="en-US" dirty="0"/>
              <a:t>Non-spatial RNA sequencing data from CZ </a:t>
            </a:r>
            <a:r>
              <a:rPr lang="en-US" dirty="0" err="1"/>
              <a:t>CELLxGENE</a:t>
            </a:r>
            <a:r>
              <a:rPr lang="en-US" dirty="0"/>
              <a:t> Discover Census </a:t>
            </a:r>
          </a:p>
          <a:p>
            <a:pPr lvl="2"/>
            <a:r>
              <a:rPr lang="en-US" dirty="0"/>
              <a:t>Over 33 million human cells</a:t>
            </a:r>
          </a:p>
          <a:p>
            <a:pPr lvl="1"/>
            <a:r>
              <a:rPr lang="en-US" dirty="0"/>
              <a:t>Model learns biological patterns</a:t>
            </a:r>
          </a:p>
          <a:p>
            <a:pPr lvl="1"/>
            <a:r>
              <a:rPr lang="en-US" dirty="0"/>
              <a:t>Self-supervised</a:t>
            </a:r>
          </a:p>
          <a:p>
            <a:pPr lvl="2"/>
            <a:r>
              <a:rPr lang="en-US" dirty="0"/>
              <a:t>Data sets are don’t have to be labeled 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Fine-tuning: adaptation of pre-trained model</a:t>
            </a:r>
          </a:p>
          <a:p>
            <a:pPr lvl="1"/>
            <a:r>
              <a:rPr lang="en-US" dirty="0"/>
              <a:t>Training data: smaller datasets</a:t>
            </a:r>
          </a:p>
          <a:p>
            <a:pPr lvl="1"/>
            <a:r>
              <a:rPr lang="en-US" dirty="0"/>
              <a:t>Model learns to align its responses with desired output</a:t>
            </a:r>
          </a:p>
          <a:p>
            <a:pPr lvl="1"/>
            <a:r>
              <a:rPr lang="en-US" dirty="0"/>
              <a:t>For specific application</a:t>
            </a:r>
          </a:p>
          <a:p>
            <a:pPr lvl="1"/>
            <a:r>
              <a:rPr lang="en-US" dirty="0"/>
              <a:t>E.g. Annotation: supervised learning on reference dataset with expert annotations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776000-64B8-9CC8-48BF-7D92E8CCFF96}"/>
              </a:ext>
            </a:extLst>
          </p:cNvPr>
          <p:cNvSpPr/>
          <p:nvPr/>
        </p:nvSpPr>
        <p:spPr>
          <a:xfrm>
            <a:off x="805715" y="2925763"/>
            <a:ext cx="2375210" cy="775011"/>
          </a:xfrm>
          <a:prstGeom prst="roundRect">
            <a:avLst/>
          </a:prstGeom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scGPT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Pre-trained model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025CB0-1C30-8A46-6EC6-AD7A0CB12E93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993320" y="1937985"/>
            <a:ext cx="0" cy="987778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1ADA349-B978-8EB4-ED21-550D30700979}"/>
              </a:ext>
            </a:extLst>
          </p:cNvPr>
          <p:cNvSpPr/>
          <p:nvPr/>
        </p:nvSpPr>
        <p:spPr>
          <a:xfrm>
            <a:off x="838200" y="1181247"/>
            <a:ext cx="2342725" cy="756738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Single-cell sequencing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D2573-8082-C58C-5E35-E1DF9B50F0E5}"/>
              </a:ext>
            </a:extLst>
          </p:cNvPr>
          <p:cNvSpPr txBox="1"/>
          <p:nvPr/>
        </p:nvSpPr>
        <p:spPr>
          <a:xfrm>
            <a:off x="2158875" y="3823465"/>
            <a:ext cx="132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4310F"/>
                </a:solidFill>
              </a:rPr>
              <a:t>Fine-tuning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B65E2-9FD7-958C-064B-502419707BFE}"/>
              </a:ext>
            </a:extLst>
          </p:cNvPr>
          <p:cNvSpPr txBox="1"/>
          <p:nvPr/>
        </p:nvSpPr>
        <p:spPr>
          <a:xfrm>
            <a:off x="2158875" y="2152280"/>
            <a:ext cx="2081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4310F"/>
                </a:solidFill>
              </a:rPr>
              <a:t>General-purpose training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4AAC08-3439-188B-263A-BE27AC96908B}"/>
              </a:ext>
            </a:extLst>
          </p:cNvPr>
          <p:cNvSpPr/>
          <p:nvPr/>
        </p:nvSpPr>
        <p:spPr>
          <a:xfrm>
            <a:off x="779356" y="4315489"/>
            <a:ext cx="2375210" cy="775011"/>
          </a:xfrm>
          <a:prstGeom prst="roundRect">
            <a:avLst/>
          </a:prstGeom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scGPT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Fine-tuned 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DDDAB0-7106-7EE1-EDC4-B1E8AC6EBF6E}"/>
              </a:ext>
            </a:extLst>
          </p:cNvPr>
          <p:cNvCxnSpPr>
            <a:cxnSpLocks/>
          </p:cNvCxnSpPr>
          <p:nvPr/>
        </p:nvCxnSpPr>
        <p:spPr>
          <a:xfrm>
            <a:off x="1966961" y="3700774"/>
            <a:ext cx="0" cy="614715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4B6FCB-B9D5-2A60-F092-B19406899022}"/>
              </a:ext>
            </a:extLst>
          </p:cNvPr>
          <p:cNvSpPr/>
          <p:nvPr/>
        </p:nvSpPr>
        <p:spPr>
          <a:xfrm>
            <a:off x="779356" y="5705215"/>
            <a:ext cx="2342725" cy="471748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Specific Task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36C469-2CA2-FD83-D7D1-0D62D6196D91}"/>
              </a:ext>
            </a:extLst>
          </p:cNvPr>
          <p:cNvCxnSpPr>
            <a:cxnSpLocks/>
          </p:cNvCxnSpPr>
          <p:nvPr/>
        </p:nvCxnSpPr>
        <p:spPr>
          <a:xfrm>
            <a:off x="1966961" y="5090500"/>
            <a:ext cx="0" cy="614715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C63ED7A-748D-8072-1785-F683AB34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52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FE5AC50-8788-94EF-1065-9C98B669EBC0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993320" y="1937985"/>
            <a:ext cx="0" cy="987778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4B6C154-4021-0E31-5110-55E077B38C32}"/>
              </a:ext>
            </a:extLst>
          </p:cNvPr>
          <p:cNvSpPr/>
          <p:nvPr/>
        </p:nvSpPr>
        <p:spPr>
          <a:xfrm>
            <a:off x="838200" y="1181247"/>
            <a:ext cx="2342725" cy="756738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Single-cell sequencing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ABFEFC-7F38-B273-02F9-1F9E3E16D5D7}"/>
              </a:ext>
            </a:extLst>
          </p:cNvPr>
          <p:cNvSpPr txBox="1"/>
          <p:nvPr/>
        </p:nvSpPr>
        <p:spPr>
          <a:xfrm>
            <a:off x="2158875" y="3823465"/>
            <a:ext cx="132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4310F"/>
                </a:solidFill>
              </a:rPr>
              <a:t>Fine-tuning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0E49FF-C023-46D1-BB17-85C892851861}"/>
              </a:ext>
            </a:extLst>
          </p:cNvPr>
          <p:cNvSpPr txBox="1"/>
          <p:nvPr/>
        </p:nvSpPr>
        <p:spPr>
          <a:xfrm>
            <a:off x="2158875" y="2152280"/>
            <a:ext cx="2081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4310F"/>
                </a:solidFill>
              </a:rPr>
              <a:t>General-purpose training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A0AC0A0-70C3-89A5-1F49-9DB8DA67CD49}"/>
              </a:ext>
            </a:extLst>
          </p:cNvPr>
          <p:cNvSpPr/>
          <p:nvPr/>
        </p:nvSpPr>
        <p:spPr>
          <a:xfrm>
            <a:off x="779356" y="4315489"/>
            <a:ext cx="2375210" cy="775011"/>
          </a:xfrm>
          <a:prstGeom prst="roundRect">
            <a:avLst/>
          </a:prstGeom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scGPT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Fine-tuned model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B4E1B6B-7FB4-B57A-6EF9-9B9755F02FD1}"/>
              </a:ext>
            </a:extLst>
          </p:cNvPr>
          <p:cNvCxnSpPr>
            <a:cxnSpLocks/>
          </p:cNvCxnSpPr>
          <p:nvPr/>
        </p:nvCxnSpPr>
        <p:spPr>
          <a:xfrm>
            <a:off x="1966961" y="3700774"/>
            <a:ext cx="0" cy="614715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1FE2306-4778-6621-9CF6-BD7D58A0903B}"/>
              </a:ext>
            </a:extLst>
          </p:cNvPr>
          <p:cNvSpPr/>
          <p:nvPr/>
        </p:nvSpPr>
        <p:spPr>
          <a:xfrm>
            <a:off x="779356" y="5705215"/>
            <a:ext cx="2342725" cy="471748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Specific Task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438434-01D5-4A61-FFB6-77F83D49C562}"/>
              </a:ext>
            </a:extLst>
          </p:cNvPr>
          <p:cNvCxnSpPr>
            <a:cxnSpLocks/>
          </p:cNvCxnSpPr>
          <p:nvPr/>
        </p:nvCxnSpPr>
        <p:spPr>
          <a:xfrm>
            <a:off x="1966961" y="5090500"/>
            <a:ext cx="0" cy="614715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6272231-C960-9B0F-1F05-EC8F84CD2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options for pre-trained models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49F64C0C-3B0F-8DC2-607C-3CBC3D97FB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453074"/>
              </p:ext>
            </p:extLst>
          </p:nvPr>
        </p:nvGraphicFramePr>
        <p:xfrm>
          <a:off x="4903267" y="1456690"/>
          <a:ext cx="6172200" cy="43472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824522939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206537152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358795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r>
                        <a:rPr lang="en-US" dirty="0"/>
                        <a:t>Whole-human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 million normal human cells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7947627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r>
                        <a:rPr lang="en-US" dirty="0"/>
                        <a:t>Brain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13.2 million brain cells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10876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r>
                        <a:rPr lang="en-US" dirty="0"/>
                        <a:t>Blood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10.3 million blood and bone marrow cells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386965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r>
                        <a:rPr lang="en-US" dirty="0"/>
                        <a:t>Heart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 million heart cells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40811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r>
                        <a:rPr lang="en-US" dirty="0"/>
                        <a:t>Lung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 million lung cells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5908178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r>
                        <a:rPr lang="en-US" dirty="0"/>
                        <a:t>Kidney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814 thousand kidney cells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590224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r>
                        <a:rPr lang="en-US" dirty="0"/>
                        <a:t>Pan-cancer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5.7 million cells of various cancer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48902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6EC3FA27-6BFC-BB68-B58D-36745740A11A}"/>
              </a:ext>
            </a:extLst>
          </p:cNvPr>
          <p:cNvSpPr/>
          <p:nvPr/>
        </p:nvSpPr>
        <p:spPr>
          <a:xfrm>
            <a:off x="650057" y="1002271"/>
            <a:ext cx="3543300" cy="52560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8D88A46-A45C-9CB4-DFD6-B9314C6ADBC0}"/>
              </a:ext>
            </a:extLst>
          </p:cNvPr>
          <p:cNvSpPr/>
          <p:nvPr/>
        </p:nvSpPr>
        <p:spPr>
          <a:xfrm>
            <a:off x="805715" y="2925763"/>
            <a:ext cx="2375210" cy="775011"/>
          </a:xfrm>
          <a:prstGeom prst="roundRect">
            <a:avLst/>
          </a:prstGeom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scGPT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Pre-trained model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216748DC-52DA-700F-B95F-EBD111C4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7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6738-DAB9-0F13-B176-617A119F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FC50C87-CACD-C4B0-9876-FD9F4DA7EA41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1993320" y="1937985"/>
            <a:ext cx="0" cy="987778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60FCA2D1-18C1-CEFB-5CAA-0A565D50D0C0}"/>
              </a:ext>
            </a:extLst>
          </p:cNvPr>
          <p:cNvSpPr/>
          <p:nvPr/>
        </p:nvSpPr>
        <p:spPr>
          <a:xfrm>
            <a:off x="838200" y="1181247"/>
            <a:ext cx="2342725" cy="756738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Single-cell sequencing data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92FA90-A9F1-9934-76E5-16758C73C936}"/>
              </a:ext>
            </a:extLst>
          </p:cNvPr>
          <p:cNvSpPr txBox="1"/>
          <p:nvPr/>
        </p:nvSpPr>
        <p:spPr>
          <a:xfrm>
            <a:off x="2158875" y="2152280"/>
            <a:ext cx="2081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4310F"/>
                </a:solidFill>
              </a:rPr>
              <a:t>General-purpose training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E4C27-96BB-AF26-4FAC-0F0C8637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Cell Type Annotation Task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288340E-7A52-1BD4-81FD-FB883DBBC1BF}"/>
              </a:ext>
            </a:extLst>
          </p:cNvPr>
          <p:cNvSpPr/>
          <p:nvPr/>
        </p:nvSpPr>
        <p:spPr>
          <a:xfrm>
            <a:off x="536313" y="978460"/>
            <a:ext cx="3543300" cy="52560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E3205EB-A24C-B59B-D5D1-D512DFFA1CAE}"/>
              </a:ext>
            </a:extLst>
          </p:cNvPr>
          <p:cNvSpPr txBox="1"/>
          <p:nvPr/>
        </p:nvSpPr>
        <p:spPr>
          <a:xfrm>
            <a:off x="2158875" y="3823465"/>
            <a:ext cx="132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4310F"/>
                </a:solidFill>
              </a:rPr>
              <a:t>Fine-tuning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5F076C0-4693-5638-AFE7-B2FF0F4F4E33}"/>
              </a:ext>
            </a:extLst>
          </p:cNvPr>
          <p:cNvSpPr/>
          <p:nvPr/>
        </p:nvSpPr>
        <p:spPr>
          <a:xfrm>
            <a:off x="779356" y="4315489"/>
            <a:ext cx="2375210" cy="775011"/>
          </a:xfrm>
          <a:prstGeom prst="roundRect">
            <a:avLst/>
          </a:prstGeom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scGPT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Fine-tuned model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674E4D8-0EEB-BD95-FF63-B129700CBABA}"/>
              </a:ext>
            </a:extLst>
          </p:cNvPr>
          <p:cNvCxnSpPr>
            <a:cxnSpLocks/>
          </p:cNvCxnSpPr>
          <p:nvPr/>
        </p:nvCxnSpPr>
        <p:spPr>
          <a:xfrm>
            <a:off x="1966961" y="5090500"/>
            <a:ext cx="0" cy="614715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2E33F607-F691-B545-26D7-00970C18DBC6}"/>
              </a:ext>
            </a:extLst>
          </p:cNvPr>
          <p:cNvSpPr/>
          <p:nvPr/>
        </p:nvSpPr>
        <p:spPr>
          <a:xfrm>
            <a:off x="779356" y="5705215"/>
            <a:ext cx="2342725" cy="471748"/>
          </a:xfrm>
          <a:prstGeom prst="roundRect">
            <a:avLst/>
          </a:prstGeom>
          <a:noFill/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rgbClr val="64310F"/>
                </a:solidFill>
              </a:rPr>
              <a:t>Annotation</a:t>
            </a:r>
          </a:p>
        </p:txBody>
      </p:sp>
      <p:sp>
        <p:nvSpPr>
          <p:cNvPr id="75" name="Slide Number Placeholder 74">
            <a:extLst>
              <a:ext uri="{FF2B5EF4-FFF2-40B4-BE49-F238E27FC236}">
                <a16:creationId xmlns:a16="http://schemas.microsoft.com/office/drawing/2014/main" id="{5B77C862-CA07-90A9-35FF-B98345B5A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3F083C0-B2B9-DE3F-B640-0A3D42F73027}"/>
              </a:ext>
            </a:extLst>
          </p:cNvPr>
          <p:cNvSpPr/>
          <p:nvPr/>
        </p:nvSpPr>
        <p:spPr>
          <a:xfrm>
            <a:off x="3736298" y="3455897"/>
            <a:ext cx="2375210" cy="775011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Reference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7357114-AD5B-6EEF-1FA8-AAD4A3E30337}"/>
              </a:ext>
            </a:extLst>
          </p:cNvPr>
          <p:cNvCxnSpPr>
            <a:cxnSpLocks/>
          </p:cNvCxnSpPr>
          <p:nvPr/>
        </p:nvCxnSpPr>
        <p:spPr>
          <a:xfrm flipH="1">
            <a:off x="1950718" y="3823465"/>
            <a:ext cx="1770072" cy="0"/>
          </a:xfrm>
          <a:prstGeom prst="straightConnector1">
            <a:avLst/>
          </a:prstGeom>
          <a:ln w="12700">
            <a:solidFill>
              <a:srgbClr val="64310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ED0F65E-37C1-156C-EC69-62BDEBA74BA2}"/>
              </a:ext>
            </a:extLst>
          </p:cNvPr>
          <p:cNvCxnSpPr>
            <a:cxnSpLocks/>
          </p:cNvCxnSpPr>
          <p:nvPr/>
        </p:nvCxnSpPr>
        <p:spPr>
          <a:xfrm>
            <a:off x="1966961" y="3700774"/>
            <a:ext cx="0" cy="614715"/>
          </a:xfrm>
          <a:prstGeom prst="straightConnector1">
            <a:avLst/>
          </a:prstGeom>
          <a:ln w="12700">
            <a:solidFill>
              <a:srgbClr val="6431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8E34F2D7-389A-EADC-6035-D69CC289B5AE}"/>
              </a:ext>
            </a:extLst>
          </p:cNvPr>
          <p:cNvSpPr/>
          <p:nvPr/>
        </p:nvSpPr>
        <p:spPr>
          <a:xfrm>
            <a:off x="805715" y="2925763"/>
            <a:ext cx="2375210" cy="775011"/>
          </a:xfrm>
          <a:prstGeom prst="roundRect">
            <a:avLst/>
          </a:prstGeom>
          <a:ln>
            <a:solidFill>
              <a:srgbClr val="64310F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scGPT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Pre-trained model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C0AC9DD9-EC74-0F12-1F92-5DAA64CB5331}"/>
              </a:ext>
            </a:extLst>
          </p:cNvPr>
          <p:cNvSpPr/>
          <p:nvPr/>
        </p:nvSpPr>
        <p:spPr>
          <a:xfrm>
            <a:off x="6924784" y="4254785"/>
            <a:ext cx="2375210" cy="775011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bg1"/>
                </a:solidFill>
              </a:rPr>
              <a:t>scRNA</a:t>
            </a:r>
            <a:r>
              <a:rPr lang="en-US" sz="2000" dirty="0">
                <a:solidFill>
                  <a:schemeClr val="bg1"/>
                </a:solidFill>
              </a:rPr>
              <a:t>-seq dataset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D42F83C-B97C-A70C-FD83-D026DE7DA3C4}"/>
              </a:ext>
            </a:extLst>
          </p:cNvPr>
          <p:cNvSpPr/>
          <p:nvPr/>
        </p:nvSpPr>
        <p:spPr>
          <a:xfrm>
            <a:off x="3740848" y="5029796"/>
            <a:ext cx="2375210" cy="775011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Query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0A4D729-A458-963C-4B52-F5BAA8B39F77}"/>
              </a:ext>
            </a:extLst>
          </p:cNvPr>
          <p:cNvCxnSpPr>
            <a:cxnSpLocks/>
          </p:cNvCxnSpPr>
          <p:nvPr/>
        </p:nvCxnSpPr>
        <p:spPr>
          <a:xfrm flipH="1">
            <a:off x="1950718" y="5421241"/>
            <a:ext cx="1812674" cy="0"/>
          </a:xfrm>
          <a:prstGeom prst="straightConnector1">
            <a:avLst/>
          </a:prstGeom>
          <a:ln w="12700">
            <a:solidFill>
              <a:srgbClr val="64310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1426795-ABA5-A6C5-68E0-77CF7F9FF6AE}"/>
              </a:ext>
            </a:extLst>
          </p:cNvPr>
          <p:cNvCxnSpPr>
            <a:cxnSpLocks/>
          </p:cNvCxnSpPr>
          <p:nvPr/>
        </p:nvCxnSpPr>
        <p:spPr>
          <a:xfrm flipV="1">
            <a:off x="6537142" y="3843402"/>
            <a:ext cx="0" cy="1573899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DFA54B7-BFB9-8AE2-0C2C-1241DC90A015}"/>
              </a:ext>
            </a:extLst>
          </p:cNvPr>
          <p:cNvCxnSpPr>
            <a:cxnSpLocks/>
          </p:cNvCxnSpPr>
          <p:nvPr/>
        </p:nvCxnSpPr>
        <p:spPr>
          <a:xfrm flipH="1">
            <a:off x="6529388" y="4626357"/>
            <a:ext cx="395396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FCA23D5-3D1B-04AA-0E37-258DDD64BA6B}"/>
              </a:ext>
            </a:extLst>
          </p:cNvPr>
          <p:cNvCxnSpPr>
            <a:cxnSpLocks/>
            <a:endCxn id="76" idx="3"/>
          </p:cNvCxnSpPr>
          <p:nvPr/>
        </p:nvCxnSpPr>
        <p:spPr>
          <a:xfrm flipH="1">
            <a:off x="6111508" y="3843402"/>
            <a:ext cx="42563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68A92C1-DA01-48E9-34B0-B35BBBC55502}"/>
              </a:ext>
            </a:extLst>
          </p:cNvPr>
          <p:cNvCxnSpPr>
            <a:cxnSpLocks/>
          </p:cNvCxnSpPr>
          <p:nvPr/>
        </p:nvCxnSpPr>
        <p:spPr>
          <a:xfrm flipH="1">
            <a:off x="6111508" y="5409312"/>
            <a:ext cx="42563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26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E888C-FCC0-4808-AEE7-85400236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AFCEF883-722D-A0B1-18C1-AF7BF54CB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8" y="2152038"/>
            <a:ext cx="7683263" cy="2915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38A85A-A96A-D154-11A0-412CD96E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used for fine-tuning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6CB3E6A-9EC8-0847-F217-31848EC47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7600"/>
            <a:ext cx="10515600" cy="5059363"/>
          </a:xfrm>
        </p:spPr>
        <p:txBody>
          <a:bodyPr/>
          <a:lstStyle/>
          <a:p>
            <a:r>
              <a:rPr lang="en-US" dirty="0"/>
              <a:t>Multiple sclerosis (MS) dataset</a:t>
            </a:r>
          </a:p>
          <a:p>
            <a:pPr lvl="1"/>
            <a:r>
              <a:rPr lang="en-US" dirty="0"/>
              <a:t>Reference: 7844 cells (control), query: 13468 cells (MS)</a:t>
            </a:r>
          </a:p>
          <a:p>
            <a:pPr lvl="1"/>
            <a:r>
              <a:rPr lang="en-US" dirty="0"/>
              <a:t>Genes: 3000 HVGs (2808 match vocabulary of size 60697)</a:t>
            </a:r>
          </a:p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EA76C4C-97FA-292B-8D88-83CB9E2CB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165" y="4287022"/>
            <a:ext cx="3604174" cy="257097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CEF9851-4CF3-6D48-644C-0BA8B1C6ADCD}"/>
              </a:ext>
            </a:extLst>
          </p:cNvPr>
          <p:cNvSpPr txBox="1"/>
          <p:nvPr/>
        </p:nvSpPr>
        <p:spPr>
          <a:xfrm>
            <a:off x="9707609" y="5342547"/>
            <a:ext cx="769763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Reference</a:t>
            </a:r>
          </a:p>
          <a:p>
            <a:r>
              <a:rPr lang="en-US" sz="1100" dirty="0"/>
              <a:t>Query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521F87F9-A689-52FD-8414-2C18A2351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59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E7374-36FE-2060-1580-DCB31955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78720-B1C5-624A-F1DA-1021BAC9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used for fine-tuning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6D2544E-0502-8690-5E80-2010C2D7C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7600"/>
            <a:ext cx="10515600" cy="5059363"/>
          </a:xfrm>
        </p:spPr>
        <p:txBody>
          <a:bodyPr/>
          <a:lstStyle/>
          <a:p>
            <a:r>
              <a:rPr lang="en-US" dirty="0"/>
              <a:t>Multiple sclerosis (MS) dataset</a:t>
            </a:r>
          </a:p>
          <a:p>
            <a:pPr lvl="1"/>
            <a:r>
              <a:rPr lang="en-US" dirty="0"/>
              <a:t>Reference: 7844 cells (control), query: 13468 cells (MS)</a:t>
            </a:r>
          </a:p>
          <a:p>
            <a:r>
              <a:rPr lang="en-US" dirty="0"/>
              <a:t>PBMC3k dataset</a:t>
            </a:r>
          </a:p>
          <a:p>
            <a:pPr lvl="1"/>
            <a:r>
              <a:rPr lang="en-US" dirty="0"/>
              <a:t>Reference: 791 cells, query: 1847 cells</a:t>
            </a:r>
          </a:p>
          <a:p>
            <a:pPr lvl="1"/>
            <a:r>
              <a:rPr lang="en-US" dirty="0"/>
              <a:t>Genes: 13714 (12300 match vocabular)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281D9-65DB-F5E5-B5D9-4189E5592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326" y="3900488"/>
            <a:ext cx="3777727" cy="269477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18384BE-437C-765C-B742-E7AD380FB3B8}"/>
              </a:ext>
            </a:extLst>
          </p:cNvPr>
          <p:cNvSpPr txBox="1"/>
          <p:nvPr/>
        </p:nvSpPr>
        <p:spPr>
          <a:xfrm>
            <a:off x="10791409" y="5032433"/>
            <a:ext cx="769763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50" dirty="0"/>
              <a:t>Reference</a:t>
            </a:r>
          </a:p>
          <a:p>
            <a:r>
              <a:rPr lang="en-US" sz="1050" dirty="0"/>
              <a:t>Query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59F01C-9DCF-13A7-F286-5F6F0720E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191867"/>
            <a:ext cx="5884384" cy="34034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0F6226-D297-B075-1811-DA3CB5A8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86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ACCF-D390-A0CE-3961-641A75FB2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B6F-9730-0C11-17CB-7ABA16BA4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used for fine-tuning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B6C5E46F-4EA7-0ABE-DD8A-4E89EC0D5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7600"/>
            <a:ext cx="10515599" cy="5059363"/>
          </a:xfrm>
        </p:spPr>
        <p:txBody>
          <a:bodyPr/>
          <a:lstStyle/>
          <a:p>
            <a:r>
              <a:rPr lang="en-US" dirty="0"/>
              <a:t>Multiple sclerosis (MS) dataset</a:t>
            </a:r>
          </a:p>
          <a:p>
            <a:pPr lvl="1"/>
            <a:r>
              <a:rPr lang="en-US" dirty="0"/>
              <a:t>Reference: 7844 cells (control), query: 13468 cells (MS)</a:t>
            </a:r>
          </a:p>
          <a:p>
            <a:r>
              <a:rPr lang="en-US" dirty="0"/>
              <a:t>PBMC3k dataset</a:t>
            </a:r>
          </a:p>
          <a:p>
            <a:pPr lvl="1"/>
            <a:r>
              <a:rPr lang="en-US" dirty="0"/>
              <a:t>Reference: 791 cells, query: 1847 cells</a:t>
            </a:r>
          </a:p>
          <a:p>
            <a:r>
              <a:rPr lang="en-US" dirty="0"/>
              <a:t>Subset of Sarcoma dataset</a:t>
            </a:r>
          </a:p>
          <a:p>
            <a:pPr lvl="1"/>
            <a:r>
              <a:rPr lang="en-US" dirty="0"/>
              <a:t>Reference: 3296 cells, query: 7691 cells</a:t>
            </a:r>
          </a:p>
          <a:p>
            <a:pPr lvl="1"/>
            <a:r>
              <a:rPr lang="en-US" dirty="0"/>
              <a:t>Genes: 35929 -&gt; 3000 HVGs (2075 match vocabulary)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34FEC-6F8A-3FAA-F796-54DD2BD2F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8" y="3495352"/>
            <a:ext cx="5600702" cy="32721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35EB12-7595-2D15-C817-5144E3B53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543" y="3972696"/>
            <a:ext cx="3899729" cy="27948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63BD35-73AF-904E-4336-15F69FA91B32}"/>
              </a:ext>
            </a:extLst>
          </p:cNvPr>
          <p:cNvSpPr txBox="1"/>
          <p:nvPr/>
        </p:nvSpPr>
        <p:spPr>
          <a:xfrm>
            <a:off x="11311817" y="5154655"/>
            <a:ext cx="769763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50" dirty="0"/>
              <a:t>Reference</a:t>
            </a:r>
          </a:p>
          <a:p>
            <a:r>
              <a:rPr lang="en-US" sz="1050" dirty="0"/>
              <a:t>Query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A6C4D99-354F-9624-9E8C-B5BCE1884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59449A5B-0CAB-6D41-B84B-BE4E5A2883B7}" type="slidenum">
              <a:rPr lang="en-US" smtClean="0"/>
              <a:pPr algn="l"/>
              <a:t>13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A3EFDC-3126-300D-B174-3CE049C44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542" y="1242119"/>
            <a:ext cx="4109157" cy="276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6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0818-FA49-C742-06F7-071921E9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– Query split for MS dataset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86F236-1C49-86D9-F8AF-CD7F3683F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2838"/>
            <a:ext cx="10515600" cy="524003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7BE87F-F41E-2655-B6C9-F7E7DE919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11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376D04-5331-B189-18E2-62AE657F3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E657-C2A8-081B-5D69-F19569853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– Query split for PBMC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C119C9-7405-6CC3-1EC5-81D9336BD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03" y="966952"/>
            <a:ext cx="10515599" cy="522239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CC9F1B-3ED1-5150-1070-2569B1FA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46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CE360A-92A1-9164-A237-57C0D8F5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EC4ED-ED1F-617A-95AA-9177D3FA4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– Query split for Sarcoma dataset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A7DC80E-90F1-B01A-7823-8D0BD4838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3321" y="1140701"/>
            <a:ext cx="9230762" cy="4576597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67100A5-5F79-D3D4-0BBC-2447A18A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91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2025A6D-A5BB-3177-57C0-75787CCEA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644" y="966952"/>
            <a:ext cx="3488492" cy="34884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B5DD58-D8D8-4413-CACC-17FF806C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Reproducing scGPT Annotation Results on Query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77D0A-A493-F969-EBDB-A1AD8C2B7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288" y="4510832"/>
            <a:ext cx="2204065" cy="2222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F3A151-89E9-B3EA-9031-9C548E88BF4A}"/>
              </a:ext>
            </a:extLst>
          </p:cNvPr>
          <p:cNvSpPr txBox="1"/>
          <p:nvPr/>
        </p:nvSpPr>
        <p:spPr>
          <a:xfrm>
            <a:off x="10621245" y="4252381"/>
            <a:ext cx="1059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scGPT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5AE3DD-2F5C-F08F-140F-356BE862323D}"/>
              </a:ext>
            </a:extLst>
          </p:cNvPr>
          <p:cNvSpPr txBox="1"/>
          <p:nvPr/>
        </p:nvSpPr>
        <p:spPr>
          <a:xfrm>
            <a:off x="10058986" y="718265"/>
            <a:ext cx="1784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Confusion matrix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42FB83-BD88-9D94-AE03-044AE6563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08" y="966952"/>
            <a:ext cx="7449542" cy="54624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D787AD-1EC7-31C5-6A48-284EB2654E67}"/>
              </a:ext>
            </a:extLst>
          </p:cNvPr>
          <p:cNvSpPr txBox="1"/>
          <p:nvPr/>
        </p:nvSpPr>
        <p:spPr>
          <a:xfrm>
            <a:off x="10636742" y="49439"/>
            <a:ext cx="1529417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MS dataset +</a:t>
            </a:r>
          </a:p>
          <a:p>
            <a:r>
              <a:rPr lang="en-US" dirty="0" err="1">
                <a:solidFill>
                  <a:schemeClr val="bg1"/>
                </a:solidFill>
              </a:rPr>
              <a:t>scGPT_human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370B1FA-390F-B63C-B721-9C9D51C8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91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99E9BD-B4D6-F271-6A35-C2C344316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09" y="3478249"/>
            <a:ext cx="4224688" cy="33797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7B5878-E7F0-1C7A-72D9-607780F8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results were consistent through multiple runs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DEE328-E903-DB53-D30E-3523A3762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08964" y="702981"/>
            <a:ext cx="4540820" cy="2809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DDBFB2-F997-5A4E-7E4D-A36CFDC07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667609"/>
            <a:ext cx="4224688" cy="280934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3445DF1-6EF4-B5B5-7C15-9C4E8481C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190781"/>
              </p:ext>
            </p:extLst>
          </p:nvPr>
        </p:nvGraphicFramePr>
        <p:xfrm>
          <a:off x="8376684" y="3841602"/>
          <a:ext cx="2172604" cy="289560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417184">
                  <a:extLst>
                    <a:ext uri="{9D8B030D-6E8A-4147-A177-3AD203B41FA5}">
                      <a16:colId xmlns:a16="http://schemas.microsoft.com/office/drawing/2014/main" val="211540631"/>
                    </a:ext>
                  </a:extLst>
                </a:gridCol>
                <a:gridCol w="421808">
                  <a:extLst>
                    <a:ext uri="{9D8B030D-6E8A-4147-A177-3AD203B41FA5}">
                      <a16:colId xmlns:a16="http://schemas.microsoft.com/office/drawing/2014/main" val="2142150232"/>
                    </a:ext>
                  </a:extLst>
                </a:gridCol>
                <a:gridCol w="333612">
                  <a:extLst>
                    <a:ext uri="{9D8B030D-6E8A-4147-A177-3AD203B41FA5}">
                      <a16:colId xmlns:a16="http://schemas.microsoft.com/office/drawing/2014/main" val="10171086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Reference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Query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460726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oligodendrocyte C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3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34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4400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phagocyte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3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82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39648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microglial cell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4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118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83055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endothelial cell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38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170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5456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oligodendrocyte A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53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1216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84171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oligodendrocyte precursor cell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55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866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20643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mixed glial cell?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60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573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27028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mixed excitatory neuron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114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185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3159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astrocyte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154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1330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05789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SST-expressing interneuron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172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258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12052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SV2C-expressing interneuron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234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344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9208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pyramidal neuron?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413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528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64228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PVALB-expressing interneuron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569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878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77643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VIP-expressing interneuron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662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1158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9145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cortical layer 5-6 excitatory neuron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997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1732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183183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cortical layer 2-3 excitatory neuron B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1019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2178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11915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cortical layer 4 excitatory neuron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1284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1504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71312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>
                          <a:effectLst/>
                        </a:rPr>
                        <a:t>cortical layer 2-3 excitatory neuron A</a:t>
                      </a:r>
                      <a:endParaRPr lang="en-US" sz="5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2010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500" dirty="0">
                          <a:effectLst/>
                        </a:rPr>
                        <a:t>314</a:t>
                      </a:r>
                      <a:endParaRPr lang="en-US" sz="5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26889155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F674B88-9442-4F05-7966-14F141826EC8}"/>
              </a:ext>
            </a:extLst>
          </p:cNvPr>
          <p:cNvSpPr txBox="1"/>
          <p:nvPr/>
        </p:nvSpPr>
        <p:spPr>
          <a:xfrm>
            <a:off x="8294746" y="3564603"/>
            <a:ext cx="2856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Total number of cells per cell type: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43C0E-912D-4F2F-A94F-935405A9A6B8}"/>
              </a:ext>
            </a:extLst>
          </p:cNvPr>
          <p:cNvSpPr txBox="1"/>
          <p:nvPr/>
        </p:nvSpPr>
        <p:spPr>
          <a:xfrm>
            <a:off x="10636742" y="49439"/>
            <a:ext cx="1529417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MS dataset +</a:t>
            </a:r>
          </a:p>
          <a:p>
            <a:r>
              <a:rPr lang="en-US" dirty="0" err="1">
                <a:solidFill>
                  <a:schemeClr val="bg1"/>
                </a:solidFill>
              </a:rPr>
              <a:t>scGPT_human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A7D2B45-7CFC-E217-197C-C1655326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41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9D8B1-B091-3FD6-46CE-CDB59C749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1018003" cy="601827"/>
          </a:xfrm>
        </p:spPr>
        <p:txBody>
          <a:bodyPr/>
          <a:lstStyle/>
          <a:p>
            <a:r>
              <a:rPr lang="en-US" dirty="0"/>
              <a:t>Predictions and Misclassifications of certain cell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A5AF2-6F09-2DF6-A36C-A4C55FE86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72" y="738352"/>
            <a:ext cx="3054047" cy="2039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B5239C-BB1C-E2E0-598E-9AC8EF64E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381" y="738352"/>
            <a:ext cx="3054047" cy="2039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E93E6B-DDF5-8DB0-0366-B511CC617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72" y="2777411"/>
            <a:ext cx="2602186" cy="2039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0F988C-84CA-0E45-79A1-BA3C07FF5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72" y="4816470"/>
            <a:ext cx="3054048" cy="2039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D6B1E2-83ED-9DA2-288C-4F35700BF5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5381" y="2774414"/>
            <a:ext cx="2894808" cy="2042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E71604-989E-C872-807B-9988B8425D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5380" y="4816470"/>
            <a:ext cx="3054047" cy="20390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80825D-18FA-61C9-F814-B491DC8463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8775" y="738352"/>
            <a:ext cx="3054047" cy="20390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27A755-C313-D3EA-FE36-BBA2AC95D4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8774" y="2774413"/>
            <a:ext cx="3054047" cy="20390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B5263D-E0FE-D96E-0550-08A64DC43DBE}"/>
              </a:ext>
            </a:extLst>
          </p:cNvPr>
          <p:cNvSpPr txBox="1"/>
          <p:nvPr/>
        </p:nvSpPr>
        <p:spPr>
          <a:xfrm>
            <a:off x="10636742" y="49439"/>
            <a:ext cx="1529417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MS dataset +</a:t>
            </a:r>
          </a:p>
          <a:p>
            <a:r>
              <a:rPr lang="en-US" dirty="0" err="1">
                <a:solidFill>
                  <a:schemeClr val="bg1"/>
                </a:solidFill>
              </a:rPr>
              <a:t>scGPT_human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E9D5D2D-7438-8C1F-3433-7E17295F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3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2A66-9E7F-6690-8D9D-EADBE8B2F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of PBMC3k query dataset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A6DF88-891A-8118-4A02-414EE6E08F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2850" y="1117600"/>
            <a:ext cx="4807076" cy="50593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693947-4C4F-8814-3719-97F348B3EFD2}"/>
              </a:ext>
            </a:extLst>
          </p:cNvPr>
          <p:cNvSpPr txBox="1"/>
          <p:nvPr/>
        </p:nvSpPr>
        <p:spPr>
          <a:xfrm>
            <a:off x="10267576" y="49439"/>
            <a:ext cx="1898584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PBMC3k dataset +</a:t>
            </a:r>
          </a:p>
          <a:p>
            <a:r>
              <a:rPr lang="en-US" dirty="0" err="1">
                <a:solidFill>
                  <a:schemeClr val="bg1"/>
                </a:solidFill>
              </a:rPr>
              <a:t>scGPT_human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E8E4DB-9695-DCF9-23BB-394C2CBD7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8" y="825438"/>
            <a:ext cx="5511123" cy="5351525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089772D-BD2F-76FC-9371-E979DDAA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7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55BFB-4BB1-E386-7883-B9067A03A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490F-98FD-97BE-5685-82D43508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of PBMC3k query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54A09-BE9F-F1A5-B498-33CC06C36415}"/>
              </a:ext>
            </a:extLst>
          </p:cNvPr>
          <p:cNvSpPr txBox="1"/>
          <p:nvPr/>
        </p:nvSpPr>
        <p:spPr>
          <a:xfrm>
            <a:off x="10267576" y="49439"/>
            <a:ext cx="189858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PBMC3k dataset +</a:t>
            </a:r>
          </a:p>
          <a:p>
            <a:r>
              <a:rPr lang="en-US" dirty="0" err="1">
                <a:solidFill>
                  <a:schemeClr val="bg1"/>
                </a:solidFill>
              </a:rPr>
              <a:t>scGPT_bc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583EBF-AC40-7010-D656-A4240ED84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693" y="976297"/>
            <a:ext cx="5410216" cy="5410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D8D474-4D15-B7E6-5AE8-E8B6B469C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71" y="738352"/>
            <a:ext cx="5110029" cy="5648161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A28ACCD-214D-EEA1-3B91-A7FB57E2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31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40B2-2D31-B982-F9BC-C96F73DB2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when you do not fine-tune?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EFB150-F508-929E-F3CC-D77A668CB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644" y="1753489"/>
            <a:ext cx="5291659" cy="3880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876E5-6A2A-E900-3C02-814C775DB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462" y="1753489"/>
            <a:ext cx="3995860" cy="388014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EA5704-0813-CF34-E0DA-28E71376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82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AB676-2192-C737-6828-B417CD52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of sarcoma query dataset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8D2A07-C61D-79C7-4A4F-B81B99E62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4438" y="1257528"/>
            <a:ext cx="5059363" cy="50593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ED9C9-761A-0A1A-824A-6FEB108E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9449A5B-0CAB-6D41-B84B-BE4E5A2883B7}" type="slidenum">
              <a:rPr lang="en-US" smtClean="0"/>
              <a:pPr algn="r"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8AD23-32B0-C162-CBC4-FBF48B3CA083}"/>
              </a:ext>
            </a:extLst>
          </p:cNvPr>
          <p:cNvSpPr txBox="1"/>
          <p:nvPr/>
        </p:nvSpPr>
        <p:spPr>
          <a:xfrm>
            <a:off x="10267576" y="49439"/>
            <a:ext cx="189858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Sarcoma dataset +</a:t>
            </a:r>
          </a:p>
          <a:p>
            <a:r>
              <a:rPr lang="en-US" dirty="0" err="1">
                <a:solidFill>
                  <a:schemeClr val="bg1"/>
                </a:solidFill>
              </a:rPr>
              <a:t>scGPT_pancancer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8097BC-0C19-6487-6D7E-736187430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979153"/>
            <a:ext cx="5059363" cy="561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83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87726-4A7F-8E2C-28CA-6A6DA43E2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 and Misclassifications of certain cell types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CB800B-45C0-BF2F-E79E-C00C05531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737" y="1075717"/>
            <a:ext cx="5656263" cy="43253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94849-2047-3B4B-B72E-184E7DCD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9449A5B-0CAB-6D41-B84B-BE4E5A2883B7}" type="slidenum">
              <a:rPr lang="en-US" smtClean="0"/>
              <a:pPr algn="r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8FB9C9-2394-D7F9-3016-98B88B0BF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725" y="1075717"/>
            <a:ext cx="5656263" cy="43253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47E7A5-095E-F6F7-533A-529259299CB1}"/>
              </a:ext>
            </a:extLst>
          </p:cNvPr>
          <p:cNvSpPr txBox="1"/>
          <p:nvPr/>
        </p:nvSpPr>
        <p:spPr>
          <a:xfrm>
            <a:off x="10267576" y="49439"/>
            <a:ext cx="189858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Sarcoma dataset +</a:t>
            </a:r>
          </a:p>
          <a:p>
            <a:r>
              <a:rPr lang="en-US" dirty="0" err="1">
                <a:solidFill>
                  <a:schemeClr val="bg1"/>
                </a:solidFill>
              </a:rPr>
              <a:t>scGPT_pancancer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194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86AD-424D-763C-E9A8-1CC647BD0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and possible future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43C6B-3665-36B5-002F-4243022DF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time / Memory usage depends on number of cells and genes</a:t>
            </a:r>
          </a:p>
          <a:p>
            <a:r>
              <a:rPr lang="en-US" dirty="0"/>
              <a:t>CPU vs GPU</a:t>
            </a:r>
          </a:p>
          <a:p>
            <a:r>
              <a:rPr lang="en-US" dirty="0"/>
              <a:t>Positive input values required for training dataset</a:t>
            </a:r>
          </a:p>
          <a:p>
            <a:r>
              <a:rPr lang="en-US" dirty="0"/>
              <a:t>Rare cells have bad prediction results</a:t>
            </a:r>
          </a:p>
          <a:p>
            <a:r>
              <a:rPr lang="en-US" dirty="0"/>
              <a:t>Choice of pre-trained model</a:t>
            </a:r>
          </a:p>
          <a:p>
            <a:r>
              <a:rPr lang="en-US" dirty="0"/>
              <a:t>Similarity of training and test dataset </a:t>
            </a:r>
          </a:p>
          <a:p>
            <a:pPr lvl="1"/>
            <a:r>
              <a:rPr lang="en-US" dirty="0"/>
              <a:t>Cell types</a:t>
            </a:r>
          </a:p>
          <a:p>
            <a:pPr lvl="1"/>
            <a:r>
              <a:rPr lang="en-US" dirty="0"/>
              <a:t>Genes</a:t>
            </a:r>
          </a:p>
          <a:p>
            <a:r>
              <a:rPr lang="en-US" dirty="0"/>
              <a:t>Potential of zero-shot applications</a:t>
            </a:r>
          </a:p>
          <a:p>
            <a:pPr lvl="1"/>
            <a:r>
              <a:rPr lang="en-US" dirty="0"/>
              <a:t>Reference mapping</a:t>
            </a:r>
          </a:p>
          <a:p>
            <a:pPr lvl="1"/>
            <a:r>
              <a:rPr lang="en-US" dirty="0"/>
              <a:t>Batch integration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8A96C-57FE-29C0-4764-09397508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8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9DB14F-3FDD-EF2E-4199-B3E44A93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49A5B-0CAB-6D41-B84B-BE4E5A2883B7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92392F-FCB6-FBA8-F8C6-90F00D40F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748" y="545240"/>
            <a:ext cx="6117977" cy="57675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52B12E-2EC6-4BDF-692E-7ECE6684E2FC}"/>
              </a:ext>
            </a:extLst>
          </p:cNvPr>
          <p:cNvSpPr txBox="1"/>
          <p:nvPr/>
        </p:nvSpPr>
        <p:spPr>
          <a:xfrm>
            <a:off x="1457326" y="2598002"/>
            <a:ext cx="3271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11563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BB258-B257-4AA6-4824-63295F7F4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Geneformer</a:t>
            </a:r>
            <a:r>
              <a:rPr lang="en-US" dirty="0"/>
              <a:t>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9415E-3CD4-B2B7-A7F7-6EBFBC062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354638"/>
          </a:xfrm>
        </p:spPr>
        <p:txBody>
          <a:bodyPr>
            <a:noAutofit/>
          </a:bodyPr>
          <a:lstStyle/>
          <a:p>
            <a:r>
              <a:rPr lang="en-US" sz="1400" i="1" dirty="0"/>
              <a:t>Fine-tuning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transcription factor dosage sensitivity</a:t>
            </a:r>
          </a:p>
          <a:p>
            <a:pPr lvl="1"/>
            <a:r>
              <a:rPr lang="en-US" sz="1400" dirty="0"/>
              <a:t>chromatin dynamics (bivalently marked promoters)</a:t>
            </a:r>
          </a:p>
          <a:p>
            <a:pPr lvl="1"/>
            <a:r>
              <a:rPr lang="en-US" sz="1400" dirty="0"/>
              <a:t>transcription factor regulatory range</a:t>
            </a:r>
          </a:p>
          <a:p>
            <a:pPr lvl="1"/>
            <a:r>
              <a:rPr lang="en-US" sz="1400" dirty="0"/>
              <a:t>gene network centrality</a:t>
            </a:r>
          </a:p>
          <a:p>
            <a:pPr lvl="1"/>
            <a:r>
              <a:rPr lang="en-US" sz="1400" dirty="0"/>
              <a:t>transcription factor targets</a:t>
            </a:r>
          </a:p>
          <a:p>
            <a:pPr lvl="1"/>
            <a:r>
              <a:rPr lang="en-US" sz="1400" dirty="0"/>
              <a:t>cell type annotation</a:t>
            </a:r>
          </a:p>
          <a:p>
            <a:pPr lvl="1"/>
            <a:r>
              <a:rPr lang="en-US" sz="1400" dirty="0"/>
              <a:t>batch integration</a:t>
            </a:r>
          </a:p>
          <a:p>
            <a:pPr lvl="1"/>
            <a:r>
              <a:rPr lang="en-US" sz="1400" dirty="0"/>
              <a:t>cell state classification across differentiation</a:t>
            </a:r>
          </a:p>
          <a:p>
            <a:pPr lvl="1"/>
            <a:r>
              <a:rPr lang="en-US" sz="1400" dirty="0"/>
              <a:t>disease classification</a:t>
            </a:r>
          </a:p>
          <a:p>
            <a:pPr lvl="1"/>
            <a:r>
              <a:rPr lang="en-US" sz="1400" dirty="0"/>
              <a:t>in silico perturbation to determine disease-driving genes</a:t>
            </a:r>
          </a:p>
          <a:p>
            <a:pPr lvl="1"/>
            <a:r>
              <a:rPr lang="en-US" sz="1400" dirty="0"/>
              <a:t>in silico treatment to determine candidate therapeutic targets</a:t>
            </a:r>
          </a:p>
          <a:p>
            <a:r>
              <a:rPr lang="en-US" sz="1400" i="1" dirty="0"/>
              <a:t>Zero-shot learning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batch integration</a:t>
            </a:r>
          </a:p>
          <a:p>
            <a:pPr lvl="1"/>
            <a:r>
              <a:rPr lang="en-US" sz="1400" dirty="0"/>
              <a:t>gene context specificity</a:t>
            </a:r>
          </a:p>
          <a:p>
            <a:pPr lvl="1"/>
            <a:r>
              <a:rPr lang="en-US" sz="1400" dirty="0"/>
              <a:t>in silico reprogramming</a:t>
            </a:r>
          </a:p>
          <a:p>
            <a:pPr lvl="1"/>
            <a:r>
              <a:rPr lang="en-US" sz="1400" dirty="0"/>
              <a:t>in silico differentiation</a:t>
            </a:r>
          </a:p>
          <a:p>
            <a:pPr lvl="1"/>
            <a:r>
              <a:rPr lang="en-US" sz="1400" dirty="0"/>
              <a:t>in silico perturbation to determine impact on cell state</a:t>
            </a:r>
          </a:p>
          <a:p>
            <a:pPr lvl="1"/>
            <a:r>
              <a:rPr lang="en-US" sz="1400" dirty="0"/>
              <a:t>in silico perturbation to determine transcription factor targets</a:t>
            </a:r>
          </a:p>
          <a:p>
            <a:pPr lvl="1"/>
            <a:r>
              <a:rPr lang="en-US" sz="1400" dirty="0"/>
              <a:t>in silico perturbation to determine transcription factor cooperativity</a:t>
            </a:r>
          </a:p>
          <a:p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F1971-F943-B523-443D-E41F9D44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9449A5B-0CAB-6D41-B84B-BE4E5A2883B7}" type="slidenum">
              <a:rPr lang="en-US" smtClean="0"/>
              <a:pPr algn="r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086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406E-D24E-69DD-44A7-5ED701FBB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scFoundation</a:t>
            </a:r>
            <a:r>
              <a:rPr lang="en-US" dirty="0"/>
              <a:t>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17502-6075-D6FD-A28F-96F1BD78B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Cell clustering</a:t>
            </a:r>
          </a:p>
          <a:p>
            <a:r>
              <a:rPr lang="en-US" dirty="0"/>
              <a:t>Cell-type annotation</a:t>
            </a:r>
          </a:p>
          <a:p>
            <a:r>
              <a:rPr lang="en-US" dirty="0"/>
              <a:t>Drug response prediction on bulk data</a:t>
            </a:r>
          </a:p>
          <a:p>
            <a:r>
              <a:rPr lang="en-US" dirty="0"/>
              <a:t>Single-cell drug response classification </a:t>
            </a:r>
          </a:p>
          <a:p>
            <a:r>
              <a:rPr lang="en-US" dirty="0"/>
              <a:t>Single-cell perturbation prediction</a:t>
            </a:r>
          </a:p>
          <a:p>
            <a:r>
              <a:rPr lang="en-US" dirty="0"/>
              <a:t>Gene module and gene regulation inference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E866E-9D90-1416-09BE-8E9AD7FA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9449A5B-0CAB-6D41-B84B-BE4E5A2883B7}" type="slidenum">
              <a:rPr lang="en-US" smtClean="0"/>
              <a:pPr algn="r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000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EE78-EF2E-2A33-7762-A4A59ED74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E59B-8F2F-EC32-2D0F-0B9E0133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scGPT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7F2D8-DF2D-478A-247D-8F54293F0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i="1" dirty="0"/>
              <a:t>Fine-tuning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Cell type annotation</a:t>
            </a:r>
          </a:p>
          <a:p>
            <a:pPr lvl="1"/>
            <a:r>
              <a:rPr lang="en-US" sz="1400" dirty="0"/>
              <a:t>Batch integration </a:t>
            </a:r>
          </a:p>
          <a:p>
            <a:pPr lvl="1"/>
            <a:r>
              <a:rPr lang="en-US" sz="1400" dirty="0" err="1"/>
              <a:t>Multiomic</a:t>
            </a:r>
            <a:r>
              <a:rPr lang="en-US" sz="1400" dirty="0"/>
              <a:t> integration</a:t>
            </a:r>
          </a:p>
          <a:p>
            <a:pPr lvl="1"/>
            <a:r>
              <a:rPr lang="en-US" sz="1400" dirty="0"/>
              <a:t>GRN inference</a:t>
            </a:r>
          </a:p>
          <a:p>
            <a:pPr lvl="1"/>
            <a:r>
              <a:rPr lang="en-US" sz="1400" dirty="0"/>
              <a:t>Perturbation prediction</a:t>
            </a:r>
          </a:p>
          <a:p>
            <a:r>
              <a:rPr lang="en-US" sz="1400" i="1" dirty="0"/>
              <a:t>Zero-shot learning</a:t>
            </a:r>
            <a:r>
              <a:rPr lang="en-US" sz="1400" dirty="0"/>
              <a:t>:</a:t>
            </a:r>
          </a:p>
          <a:p>
            <a:pPr lvl="1"/>
            <a:r>
              <a:rPr lang="en-US" sz="1200" dirty="0"/>
              <a:t>Reference mapping</a:t>
            </a:r>
          </a:p>
          <a:p>
            <a:pPr lvl="1"/>
            <a:r>
              <a:rPr lang="en-US" sz="1200" dirty="0"/>
              <a:t>Batch integration</a:t>
            </a:r>
          </a:p>
          <a:p>
            <a:pPr lvl="1"/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0964C-2763-B9A3-6E61-350755A2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9449A5B-0CAB-6D41-B84B-BE4E5A2883B7}" type="slidenum">
              <a:rPr lang="en-US" smtClean="0"/>
              <a:pPr algn="r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094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3225-4ED0-9557-AB21-F9A5236C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UMAP visualization of the pretrained scGPT cell embeddings</a:t>
            </a:r>
          </a:p>
        </p:txBody>
      </p:sp>
      <p:pic>
        <p:nvPicPr>
          <p:cNvPr id="5" name="Content Placeholder 4" descr="Fig. 1: Model schematic.">
            <a:extLst>
              <a:ext uri="{FF2B5EF4-FFF2-40B4-BE49-F238E27FC236}">
                <a16:creationId xmlns:a16="http://schemas.microsoft.com/office/drawing/2014/main" id="{21B5A4C8-BF7B-819C-637F-4C08D9F46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258" t="49921"/>
          <a:stretch>
            <a:fillRect/>
          </a:stretch>
        </p:blipFill>
        <p:spPr>
          <a:xfrm>
            <a:off x="2276474" y="1244338"/>
            <a:ext cx="7639051" cy="48449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57CB1-FA3E-08A3-7796-3155AA72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9449A5B-0CAB-6D41-B84B-BE4E5A2883B7}" type="slidenum">
              <a:rPr lang="en-US" smtClean="0"/>
              <a:pPr algn="r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382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6803E-B168-34F0-DBBC-FFB521E2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Sarcoma dataset cell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C3D64-719A-3D34-A3E5-741313A6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9449A5B-0CAB-6D41-B84B-BE4E5A2883B7}" type="slidenum">
              <a:rPr lang="en-US" smtClean="0"/>
              <a:pPr algn="r"/>
              <a:t>31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3AB9CE-D5A4-A84A-944A-68C809014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06884"/>
            <a:ext cx="8972550" cy="404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96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5822</TotalTime>
  <Words>1158</Words>
  <Application>Microsoft Macintosh PowerPoint</Application>
  <PresentationFormat>Widescreen</PresentationFormat>
  <Paragraphs>355</Paragraphs>
  <Slides>31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-apple-system</vt:lpstr>
      <vt:lpstr>Arial</vt:lpstr>
      <vt:lpstr>Calibri</vt:lpstr>
      <vt:lpstr>Calibri Light</vt:lpstr>
      <vt:lpstr>Office Theme</vt:lpstr>
      <vt:lpstr>Cell type annotation using a single-cell  foundation model</vt:lpstr>
      <vt:lpstr>Foundation Models</vt:lpstr>
      <vt:lpstr>Foundation Models in cell biology</vt:lpstr>
      <vt:lpstr>scGPT - single-cell foundation model based on GPT architecture</vt:lpstr>
      <vt:lpstr>scGPT - Applications</vt:lpstr>
      <vt:lpstr>Masked-attention transformer</vt:lpstr>
      <vt:lpstr>Input embedding</vt:lpstr>
      <vt:lpstr>Training</vt:lpstr>
      <vt:lpstr>Multiple options for pre-trained models</vt:lpstr>
      <vt:lpstr>Cell Type Annotation Task</vt:lpstr>
      <vt:lpstr>Datasets used for fine-tuning</vt:lpstr>
      <vt:lpstr>Datasets used for fine-tuning</vt:lpstr>
      <vt:lpstr>Datasets used for fine-tuning</vt:lpstr>
      <vt:lpstr>Reference – Query split for MS dataset</vt:lpstr>
      <vt:lpstr>Reference – Query split for PBMC dataset</vt:lpstr>
      <vt:lpstr>Reference – Query split for Sarcoma dataset</vt:lpstr>
      <vt:lpstr>Reproducing scGPT Annotation Results on Query Dataset</vt:lpstr>
      <vt:lpstr>The results were consistent through multiple runs </vt:lpstr>
      <vt:lpstr>Predictions and Misclassifications of certain cell types</vt:lpstr>
      <vt:lpstr>Annotation of PBMC3k query dataset</vt:lpstr>
      <vt:lpstr>Annotation of PBMC3k query dataset</vt:lpstr>
      <vt:lpstr>What happens when you do not fine-tune?</vt:lpstr>
      <vt:lpstr>Annotation of sarcoma query dataset</vt:lpstr>
      <vt:lpstr>Predictions and Misclassifications of certain cell types</vt:lpstr>
      <vt:lpstr>Issues and possible future challenges</vt:lpstr>
      <vt:lpstr>PowerPoint Presentation</vt:lpstr>
      <vt:lpstr>Geneformer Applications</vt:lpstr>
      <vt:lpstr>scFoundation Applications</vt:lpstr>
      <vt:lpstr>scGPT Applications</vt:lpstr>
      <vt:lpstr>UMAP visualization of the pretrained scGPT cell embeddings</vt:lpstr>
      <vt:lpstr>Sarcoma dataset cell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Selina Ernst </dc:creator>
  <cp:lastModifiedBy>Selina Ernst </cp:lastModifiedBy>
  <cp:revision>1</cp:revision>
  <dcterms:created xsi:type="dcterms:W3CDTF">2026-10-26T12:10:39Z</dcterms:created>
  <dcterms:modified xsi:type="dcterms:W3CDTF">2026-10-30T13:13:27Z</dcterms:modified>
</cp:coreProperties>
</file>