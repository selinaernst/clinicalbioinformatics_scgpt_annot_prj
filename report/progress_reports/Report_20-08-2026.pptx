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5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8"/>
    <p:restoredTop sz="94465"/>
  </p:normalViewPr>
  <p:slideViewPr>
    <p:cSldViewPr snapToGrid="0">
      <p:cViewPr varScale="1">
        <p:scale>
          <a:sx n="131" d="100"/>
          <a:sy n="131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A69C-8EDE-E081-1AD1-CE1FCB25E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1791B-2362-1A5D-F040-15CCA1228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EA533-6CA6-DF9E-4B9F-04DC8E57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1C6CD-CE69-60E3-0A36-C951F3C5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70DAB-FFD4-5C8A-3318-598B4E36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7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8D21-9892-AB2E-6688-7799BB50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4477A-6677-7267-F54D-496666FF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48C0B-4AEC-9C12-0D86-EC21AD31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6E9F2-BDBA-188D-4ED5-FB16EFF3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2710B-4880-A7AB-A420-8737E661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34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79A7-004B-3ADB-7CD7-72A02E61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6092B-D395-B7EF-8816-D57C23854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92C87-F518-4BD9-51BB-3C23411C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35C0-31F7-DE0B-06E6-77D9BAEA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9464B-6792-E56D-6C38-F863DE22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5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BE07-06F2-C9AB-37D3-9F8C15E7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1D878-6CA1-0EDF-3248-F97D45C7C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C8125-FA4F-094A-F521-4B859C69A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A25B9-866F-62AE-89FD-F35AB8E4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A8DD3-C8C0-8C15-75DC-EF9F4DBD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F29E9-231B-5AB8-DD7A-8D448D27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7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DF31-81F9-59AE-2418-BDDC9832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18815-F6E4-B9DB-30ED-F7812C65B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9DC81-CF51-696E-E72B-304C3C840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240C6-C012-FAE2-150C-76488EEC4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4B76E-53D6-E39A-3199-44EDBDE29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BEC06-ED4B-96B5-08B9-69B22C52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58AFF-3178-0B1F-8B99-FACD1544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823C71-F627-3AAF-897A-AC67B053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6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D573-103A-1CAE-D75E-0654E969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F41F1-092B-021A-FF55-D771C9A2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705F1-6B43-30A6-AD0D-BBE3E8E2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C411A-0345-E719-8568-29FA33BC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3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69030-719C-E248-CD14-415D5914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234E3-9ADB-97B1-2078-C7595525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EC606-AA40-09AB-8DBF-F0746429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7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E879-55B2-CF8A-B7D1-DD8323E6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D0C0D-9FD8-0B72-7167-C47D1D1C2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B1AD5-17A6-7B3F-CEC9-5F688BEDC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2A5F5-6A57-01E7-29CF-5428753C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5B3EE-2D03-C9F8-D461-566A6BE2D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C5C3F-DE06-08B6-CBB9-4ACE2C2C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2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CEA8-192C-6D1E-A74E-0661CE48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A4F67-8A0D-BC6D-3BB7-5D01B6BC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AC5B6-E933-A01D-49FD-C0AF98546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F0794-82C6-4CD8-030C-156B11FE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CADEA-0787-9BDD-C068-68FA9280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F91D2-BC55-E9B5-009B-03394819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7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6571-AB2B-1468-9E38-FA7973CE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A0417-80CF-197A-ED7F-BECD67400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0961A-7286-C0EB-6EB4-99FAE570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E7CA-31E1-7EE8-FD24-A0394F34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8F52B-009A-A4DA-13EE-48EE1F6E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7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06006-9DD9-7931-E969-D13EDBE54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051C0-8B77-7A64-C01D-E766B6C12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0EBD-47F5-0EEB-3C35-ED0E626D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72D-8080-7249-BACD-CD5974DCC8F7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C3AEA-662F-230D-5C14-720BE066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C849-842E-E86E-D8F4-7ABDCF99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C7D23-BCC2-4FA5-FEB1-0865AD27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EC479-18B9-B662-7E0D-C3B546B5D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17C5E-3ED4-9A1D-EE4D-F16180C0E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1472D-8080-7249-BACD-CD5974DCC8F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97D08-E96D-6D7E-337B-B0269B342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82EA2-5022-1C7C-C7C4-2A5265211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53EDD-4C26-8041-8BED-2E84BEB3B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3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4110-3C8C-6B61-05EB-E5DAF35EA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Progress Reoport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F67D0-09EC-3C58-E90D-8345A6639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20.08.2026</a:t>
            </a:r>
          </a:p>
        </p:txBody>
      </p:sp>
    </p:spTree>
    <p:extLst>
      <p:ext uri="{BB962C8B-B14F-4D97-AF65-F5344CB8AC3E}">
        <p14:creationId xmlns:p14="http://schemas.microsoft.com/office/powerpoint/2010/main" val="142061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D3BA-CE10-093D-BEC3-3F53C641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PBMC3k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452EE-4ADD-53E8-C4AB-835852F2D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Create h3ad file</a:t>
            </a:r>
          </a:p>
          <a:p>
            <a:pPr lvl="1"/>
            <a:r>
              <a:rPr lang="en-US"/>
              <a:t>Requried files: 10x-genomics-formatted mtx directory</a:t>
            </a:r>
          </a:p>
          <a:p>
            <a:pPr lvl="2"/>
            <a:r>
              <a:rPr lang="en-US"/>
              <a:t>matrix.mtx : core data file, contains UMI counts (for cell and gene)</a:t>
            </a:r>
          </a:p>
          <a:p>
            <a:pPr lvl="2"/>
            <a:r>
              <a:rPr lang="en-US"/>
              <a:t>barcodes.tsv : list of all barcodes (cell annotation)</a:t>
            </a:r>
          </a:p>
          <a:p>
            <a:pPr lvl="2"/>
            <a:r>
              <a:rPr lang="en-US"/>
              <a:t>genes.tsv : list of all genes (gene symbols, gene ids)</a:t>
            </a:r>
          </a:p>
          <a:p>
            <a:pPr lvl="3"/>
            <a:r>
              <a:rPr lang="en-US"/>
              <a:t>Gene ids = ENSEMBL ID</a:t>
            </a:r>
          </a:p>
          <a:p>
            <a:pPr lvl="3"/>
            <a:r>
              <a:rPr lang="en-US">
                <a:solidFill>
                  <a:srgbClr val="FF0000"/>
                </a:solidFill>
              </a:rPr>
              <a:t>Gene symbols are not unique </a:t>
            </a:r>
          </a:p>
          <a:p>
            <a:pPr lvl="1"/>
            <a:r>
              <a:rPr lang="en-US"/>
              <a:t>Read </a:t>
            </a:r>
          </a:p>
          <a:p>
            <a:pPr lvl="2"/>
            <a:r>
              <a:rPr lang="en-US"/>
              <a:t>Method: sc.read_10x_mtx</a:t>
            </a:r>
          </a:p>
          <a:p>
            <a:pPr lvl="3"/>
            <a:r>
              <a:rPr lang="en-US"/>
              <a:t>Makes gene symbols unique by appending ”-1”</a:t>
            </a:r>
          </a:p>
          <a:p>
            <a:pPr lvl="3"/>
            <a:r>
              <a:rPr lang="en-US"/>
              <a:t>Example: U1 -&gt; U1, U1-1</a:t>
            </a:r>
          </a:p>
          <a:p>
            <a:pPr lvl="2"/>
            <a:r>
              <a:rPr lang="en-US"/>
              <a:t>Result: 2700 x 32738 count matrix</a:t>
            </a:r>
          </a:p>
        </p:txBody>
      </p:sp>
    </p:spTree>
    <p:extLst>
      <p:ext uri="{BB962C8B-B14F-4D97-AF65-F5344CB8AC3E}">
        <p14:creationId xmlns:p14="http://schemas.microsoft.com/office/powerpoint/2010/main" val="304117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CEBF-EF44-B869-DD24-4A24A8E7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C86D1-A813-69A6-CCEB-F6217736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Minimum detected genes in cell = 200</a:t>
            </a:r>
          </a:p>
          <a:p>
            <a:pPr lvl="1"/>
            <a:r>
              <a:rPr lang="en-US"/>
              <a:t>Reason</a:t>
            </a:r>
          </a:p>
          <a:p>
            <a:pPr lvl="2"/>
            <a:r>
              <a:rPr lang="en-US"/>
              <a:t>Filter cells that are dead</a:t>
            </a:r>
          </a:p>
          <a:p>
            <a:pPr lvl="2"/>
            <a:r>
              <a:rPr lang="en-US"/>
              <a:t>Filter out empty droplets</a:t>
            </a:r>
          </a:p>
          <a:p>
            <a:pPr lvl="1"/>
            <a:r>
              <a:rPr lang="en-US"/>
              <a:t>Result: 0 cells</a:t>
            </a:r>
          </a:p>
          <a:p>
            <a:r>
              <a:rPr lang="en-US"/>
              <a:t>Minimum cells expressing gene = 3</a:t>
            </a:r>
          </a:p>
          <a:p>
            <a:pPr lvl="1"/>
            <a:r>
              <a:rPr lang="en-US"/>
              <a:t>Reason</a:t>
            </a:r>
          </a:p>
          <a:p>
            <a:pPr lvl="2"/>
            <a:r>
              <a:rPr lang="en-US"/>
              <a:t>Filter out genes that are too rare </a:t>
            </a:r>
          </a:p>
          <a:p>
            <a:pPr lvl="2"/>
            <a:r>
              <a:rPr lang="en-US"/>
              <a:t>Make matrix more compact</a:t>
            </a:r>
          </a:p>
          <a:p>
            <a:pPr lvl="1"/>
            <a:r>
              <a:rPr lang="en-US"/>
              <a:t>Result: 19024 genes</a:t>
            </a:r>
          </a:p>
          <a:p>
            <a:pPr lvl="1"/>
            <a:endParaRPr lang="en-US"/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1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A646-7BCE-2F1F-74FB-0CCE11E27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QC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6402A-C8EC-8487-3C7E-E21E8E025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Some basic metrics</a:t>
            </a:r>
          </a:p>
          <a:p>
            <a:pPr lvl="1"/>
            <a:r>
              <a:rPr lang="en-US"/>
              <a:t>For cells</a:t>
            </a:r>
          </a:p>
          <a:p>
            <a:pPr lvl="2"/>
            <a:r>
              <a:rPr lang="en-US"/>
              <a:t>number of genes with (positive) counts in a cell</a:t>
            </a:r>
          </a:p>
          <a:p>
            <a:pPr lvl="2"/>
            <a:r>
              <a:rPr lang="en-US"/>
              <a:t>total number of counts for a cell (library size, count depth)</a:t>
            </a:r>
          </a:p>
          <a:p>
            <a:pPr lvl="1"/>
            <a:r>
              <a:rPr lang="en-US"/>
              <a:t>For genes</a:t>
            </a:r>
          </a:p>
          <a:p>
            <a:pPr lvl="2"/>
            <a:r>
              <a:rPr lang="en-US"/>
              <a:t>sum of counts for a gene</a:t>
            </a:r>
          </a:p>
          <a:p>
            <a:pPr lvl="2"/>
            <a:r>
              <a:rPr lang="en-US"/>
              <a:t>mean expression over all cells</a:t>
            </a:r>
          </a:p>
          <a:p>
            <a:pPr lvl="1"/>
            <a:r>
              <a:rPr lang="en-US"/>
              <a:t>Mitochondrial genes</a:t>
            </a:r>
          </a:p>
          <a:p>
            <a:pPr lvl="2"/>
            <a:r>
              <a:rPr lang="en-US"/>
              <a:t>Gene symbols start with “MT-”</a:t>
            </a:r>
          </a:p>
          <a:p>
            <a:pPr lvl="2"/>
            <a:r>
              <a:rPr lang="en-US"/>
              <a:t>High percentage of mitochondrial RNA indicates dead / ruptured cells</a:t>
            </a:r>
          </a:p>
          <a:p>
            <a:pPr lvl="3"/>
            <a:r>
              <a:rPr lang="en-US"/>
              <a:t>after cells outer membrane ruptures, cytoplasmic RNA is washed away but mitochondrial RNA will remain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8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C16F-C20C-D428-93F4-8F580F1A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QC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ADE14-0056-5EED-2FB8-18BC30EF7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More metrics</a:t>
            </a:r>
          </a:p>
          <a:p>
            <a:pPr lvl="1"/>
            <a:r>
              <a:rPr lang="en-US"/>
              <a:t>Ribosomal genes</a:t>
            </a:r>
          </a:p>
          <a:p>
            <a:pPr lvl="2"/>
            <a:r>
              <a:rPr lang="en-US"/>
              <a:t>Low percentage of ribosomal RNA indicates no protein synthesis</a:t>
            </a:r>
          </a:p>
          <a:p>
            <a:pPr lvl="1"/>
            <a:r>
              <a:rPr lang="en-US"/>
              <a:t>Hemoglobin genes</a:t>
            </a:r>
          </a:p>
          <a:p>
            <a:pPr lvl="2"/>
            <a:r>
              <a:rPr lang="en-US"/>
              <a:t>High percentage of hemoglobin RNA indicates red blood cell contamination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7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5F69-4E8F-4723-E051-42A41358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807A7-A043-F28A-2B48-917FFE702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1573"/>
            <a:ext cx="9981575" cy="31642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826F2C-2EAE-7FFA-9A07-944F2BCADB8D}"/>
              </a:ext>
            </a:extLst>
          </p:cNvPr>
          <p:cNvSpPr/>
          <p:nvPr/>
        </p:nvSpPr>
        <p:spPr>
          <a:xfrm>
            <a:off x="823680" y="2561573"/>
            <a:ext cx="3291119" cy="3164214"/>
          </a:xfrm>
          <a:prstGeom prst="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E5A71-44BF-0A9E-26F7-114EB1F01F4D}"/>
              </a:ext>
            </a:extLst>
          </p:cNvPr>
          <p:cNvSpPr/>
          <p:nvPr/>
        </p:nvSpPr>
        <p:spPr>
          <a:xfrm>
            <a:off x="7445664" y="2561573"/>
            <a:ext cx="3641124" cy="3164214"/>
          </a:xfrm>
          <a:prstGeom prst="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AF61EC-7C72-B0E4-3429-03C078D5055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Workflow only used these two</a:t>
            </a:r>
          </a:p>
        </p:txBody>
      </p:sp>
    </p:spTree>
    <p:extLst>
      <p:ext uri="{BB962C8B-B14F-4D97-AF65-F5344CB8AC3E}">
        <p14:creationId xmlns:p14="http://schemas.microsoft.com/office/powerpoint/2010/main" val="322405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D815-A29C-4275-D591-CA4ACD09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6806B-0C2F-E84C-5E21-7A75E00E1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Is log1p better?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6A9E2-3A09-3927-DB29-37948DA2A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79414"/>
            <a:ext cx="7772400" cy="369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03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AE1B-FF5E-48E6-AFCC-8DC4857C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Thresholds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6CD2-8033-8D45-32C1-6FBEEFE3E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Example workflow</a:t>
            </a:r>
          </a:p>
          <a:p>
            <a:pPr lvl="1"/>
            <a:r>
              <a:rPr lang="en-US"/>
              <a:t>Metrics: detected genes, percentage of mitochondrial genes</a:t>
            </a:r>
          </a:p>
          <a:p>
            <a:pPr lvl="1"/>
            <a:r>
              <a:rPr lang="en-US"/>
              <a:t>Hard coded </a:t>
            </a:r>
          </a:p>
          <a:p>
            <a:pPr lvl="2"/>
            <a:r>
              <a:rPr lang="en-US"/>
              <a:t>n_genes_by_counts &gt;= 2500 or n_genes_by_counts &lt;= 200 </a:t>
            </a:r>
          </a:p>
          <a:p>
            <a:pPr lvl="2"/>
            <a:r>
              <a:rPr lang="en-US"/>
              <a:t>pct_counts_mt &gt; 5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Issue: might not be applicable to other data sets with different count distributions 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Question: Using “OR” might mean loss of information (cells can have high mitochondrial read count because of other reasons)</a:t>
            </a:r>
          </a:p>
          <a:p>
            <a:r>
              <a:rPr lang="en-US"/>
              <a:t>Idea</a:t>
            </a:r>
          </a:p>
          <a:p>
            <a:pPr lvl="1"/>
            <a:r>
              <a:rPr lang="en-US"/>
              <a:t>Use Median Absolut Deviation (MAD)</a:t>
            </a:r>
          </a:p>
          <a:p>
            <a:pPr lvl="2"/>
            <a:r>
              <a:rPr lang="en-US"/>
              <a:t>Bottom threshold = median - 5 MAD</a:t>
            </a:r>
          </a:p>
          <a:p>
            <a:pPr lvl="2"/>
            <a:r>
              <a:rPr lang="en-US"/>
              <a:t>Top threshold = median + 5 MAD</a:t>
            </a:r>
          </a:p>
          <a:p>
            <a:pPr lvl="1"/>
            <a:r>
              <a:rPr lang="en-US"/>
              <a:t>Use log1p values</a:t>
            </a:r>
          </a:p>
          <a:p>
            <a:pPr lvl="2"/>
            <a:endParaRPr lang="en-US"/>
          </a:p>
          <a:p>
            <a:pPr lvl="2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0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307D-CD88-5424-FDE6-B3EE7D8E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Outliers: pct_counts_mt, n_genes_by_count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A53B0-DE8B-8812-E8D4-615B70444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8285" y="1828799"/>
            <a:ext cx="4899597" cy="4355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699CD0-AD45-F6E6-DB11-77D5C2AD70D1}"/>
              </a:ext>
            </a:extLst>
          </p:cNvPr>
          <p:cNvSpPr txBox="1"/>
          <p:nvPr/>
        </p:nvSpPr>
        <p:spPr>
          <a:xfrm>
            <a:off x="1054118" y="1828799"/>
            <a:ext cx="3136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PBMC workflow: 62 cells</a:t>
            </a:r>
          </a:p>
          <a:p>
            <a:r>
              <a:rPr lang="en-US"/>
              <a:t>MAD thresholds (red): 141 cells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2A691-5CF0-4B92-1AF5-49EAA00EF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30535"/>
            <a:ext cx="3466816" cy="30816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FCB776-98E2-5771-2452-17B26E6DD022}"/>
              </a:ext>
            </a:extLst>
          </p:cNvPr>
          <p:cNvSpPr/>
          <p:nvPr/>
        </p:nvSpPr>
        <p:spPr>
          <a:xfrm>
            <a:off x="6518906" y="1828799"/>
            <a:ext cx="4834893" cy="4497860"/>
          </a:xfrm>
          <a:prstGeom prst="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26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3842-DEB9-3888-7D14-61F771E0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Outliers: MAD approach + Count Depth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C8F794-8132-1B59-DCE6-F8D2D43D7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4191"/>
            <a:ext cx="6181982" cy="4499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8E251-BBD9-3520-7963-D837ADEAE30E}"/>
              </a:ext>
            </a:extLst>
          </p:cNvPr>
          <p:cNvSpPr txBox="1"/>
          <p:nvPr/>
        </p:nvSpPr>
        <p:spPr>
          <a:xfrm>
            <a:off x="5841656" y="1913111"/>
            <a:ext cx="3858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MAD with 3 different metrics: 146 cells</a:t>
            </a:r>
          </a:p>
        </p:txBody>
      </p:sp>
    </p:spTree>
    <p:extLst>
      <p:ext uri="{BB962C8B-B14F-4D97-AF65-F5344CB8AC3E}">
        <p14:creationId xmlns:p14="http://schemas.microsoft.com/office/powerpoint/2010/main" val="294619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E83-C617-E75F-F765-403E742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QC result (PBMC workflow)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7C75BB-5636-74BE-7A1B-3142DB919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8222" y="1962944"/>
            <a:ext cx="4229100" cy="407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72C5AA-68DB-4A8D-E66B-57EE5C5E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06" y="1962944"/>
            <a:ext cx="4356100" cy="407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BF1ED-CEEB-EBB3-2438-ABD2323E806A}"/>
              </a:ext>
            </a:extLst>
          </p:cNvPr>
          <p:cNvSpPr txBox="1"/>
          <p:nvPr/>
        </p:nvSpPr>
        <p:spPr>
          <a:xfrm>
            <a:off x="2767914" y="1690688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Before: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B09F7-0575-3CC6-A5C3-9E50CA446875}"/>
              </a:ext>
            </a:extLst>
          </p:cNvPr>
          <p:cNvSpPr txBox="1"/>
          <p:nvPr/>
        </p:nvSpPr>
        <p:spPr>
          <a:xfrm>
            <a:off x="8675053" y="1724885"/>
            <a:ext cx="72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After: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077BD-40A6-1C0C-0917-7E3E916D88DC}"/>
              </a:ext>
            </a:extLst>
          </p:cNvPr>
          <p:cNvSpPr/>
          <p:nvPr/>
        </p:nvSpPr>
        <p:spPr>
          <a:xfrm>
            <a:off x="6617993" y="1660914"/>
            <a:ext cx="4834893" cy="4497860"/>
          </a:xfrm>
          <a:prstGeom prst="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22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0C587-E43F-5F04-DAD2-BD5ED765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Doublet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183E7-0DEF-B743-BCB8-CA38A702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In PBMC workflow: did prediction, but did not remove</a:t>
            </a:r>
          </a:p>
          <a:p>
            <a:r>
              <a:rPr lang="en-US" sz="2000"/>
              <a:t>Result: 32 cells</a:t>
            </a:r>
          </a:p>
          <a:p>
            <a:r>
              <a:rPr lang="en-US" sz="2000">
                <a:solidFill>
                  <a:srgbClr val="FF0000"/>
                </a:solidFill>
              </a:rPr>
              <a:t>I have not decided what to do with them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78E89-DABD-C4B9-74F9-7AE8959DA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524" y="1962944"/>
            <a:ext cx="44196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58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D9FA-8860-BA7B-7C49-B160305AF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Normalization 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2A04B9-D7E2-3DE0-BC32-CB8D839B8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325" y="1825625"/>
            <a:ext cx="9363350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73A85F-1681-4A27-972A-B963EFB827EF}"/>
              </a:ext>
            </a:extLst>
          </p:cNvPr>
          <p:cNvSpPr/>
          <p:nvPr/>
        </p:nvSpPr>
        <p:spPr>
          <a:xfrm>
            <a:off x="6096000" y="1679103"/>
            <a:ext cx="4834893" cy="4497860"/>
          </a:xfrm>
          <a:prstGeom prst="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98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C081-6331-0B73-A4FB-B9EDD862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HVGs: Seurat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EAB2-F68C-73D1-5155-5EDCB15A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81184" cy="4351338"/>
          </a:xfrm>
        </p:spPr>
        <p:txBody>
          <a:bodyPr>
            <a:normAutofit/>
          </a:bodyPr>
          <a:lstStyle/>
          <a:p>
            <a:r>
              <a:rPr lang="en-US" sz="2000"/>
              <a:t>highly variable: dispersion of gene expression among cells is greater than in other cells (high positive Z-score)</a:t>
            </a:r>
          </a:p>
          <a:p>
            <a:r>
              <a:rPr lang="en-US" sz="2000"/>
              <a:t>min_disp = 0.5 </a:t>
            </a:r>
          </a:p>
          <a:p>
            <a:r>
              <a:rPr lang="en-US" sz="2000"/>
              <a:t>n_top_genes=2000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1479A-6D52-5409-B130-F2783ADF6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022" y="1690688"/>
            <a:ext cx="7536280" cy="39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3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98DA-D4E9-2FBB-83A9-C0DE81F0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3F31A-1CB6-10EA-60FF-40C65B8D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Preparation</a:t>
            </a:r>
          </a:p>
          <a:p>
            <a:pPr lvl="1"/>
            <a:r>
              <a:rPr lang="en-US"/>
              <a:t>Use normalized expressions</a:t>
            </a:r>
          </a:p>
          <a:p>
            <a:pPr lvl="1"/>
            <a:r>
              <a:rPr lang="en-US"/>
              <a:t>Regress out unwanted variation by using linear regression</a:t>
            </a:r>
          </a:p>
          <a:p>
            <a:pPr lvl="2"/>
            <a:r>
              <a:rPr lang="en-US"/>
              <a:t>prevents cells from clustering by read depth or mitochondrial content instead of actual cell types </a:t>
            </a:r>
          </a:p>
          <a:p>
            <a:pPr lvl="2"/>
            <a:r>
              <a:rPr lang="en-US"/>
              <a:t>don't treat dying vs healthy as dominant axes of variance</a:t>
            </a:r>
          </a:p>
          <a:p>
            <a:pPr lvl="1"/>
            <a:r>
              <a:rPr lang="en-US"/>
              <a:t>Scaling</a:t>
            </a:r>
          </a:p>
          <a:p>
            <a:pPr lvl="2"/>
            <a:r>
              <a:rPr lang="en-US"/>
              <a:t>shifts the expression of each gene so the mean is (0) and scales it so the variance is (1) (Z-score calculation)</a:t>
            </a:r>
          </a:p>
          <a:p>
            <a:pPr lvl="2"/>
            <a:r>
              <a:rPr lang="en-US"/>
              <a:t>clips extreme outliers at (10) standard deviations</a:t>
            </a:r>
          </a:p>
          <a:p>
            <a:pPr lvl="2"/>
            <a:r>
              <a:rPr lang="en-US"/>
              <a:t>don't let PCA prioritize genes with higher variance </a:t>
            </a:r>
          </a:p>
          <a:p>
            <a:pPr lvl="2"/>
            <a:endParaRPr lang="en-US"/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5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AEA7-E5D4-C765-C713-89275A6E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F1AF1-8489-2063-2208-A8FEBD86E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Configuration</a:t>
            </a:r>
          </a:p>
          <a:p>
            <a:pPr lvl="1"/>
            <a:r>
              <a:rPr lang="en-US"/>
              <a:t>Compute </a:t>
            </a:r>
            <a:r>
              <a:rPr lang="en-US">
                <a:solidFill>
                  <a:srgbClr val="FF0000"/>
                </a:solidFill>
              </a:rPr>
              <a:t>50</a:t>
            </a:r>
            <a:r>
              <a:rPr lang="en-US"/>
              <a:t> principal components</a:t>
            </a:r>
          </a:p>
          <a:p>
            <a:pPr lvl="1"/>
            <a:r>
              <a:rPr lang="en-US"/>
              <a:t>Only use highly variable genes </a:t>
            </a:r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945CF-0F5B-1B73-EC9B-DA3091C2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14" y="3219711"/>
            <a:ext cx="3474308" cy="3273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6C275B-CDDE-30EB-5511-7EF92CA23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855" y="1409700"/>
            <a:ext cx="48768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27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F00D-6A69-82C2-A3DC-3EE67698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with leiden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01F15-6D04-E109-AE3F-8309FDA3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2795" cy="4351338"/>
          </a:xfrm>
        </p:spPr>
        <p:txBody>
          <a:bodyPr/>
          <a:lstStyle/>
          <a:p>
            <a:r>
              <a:rPr lang="en-US"/>
              <a:t>Configuration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Issue: based on resolution etc. the number of clusters can change. How do I decide?</a:t>
            </a:r>
          </a:p>
          <a:p>
            <a:pPr lvl="1"/>
            <a:r>
              <a:rPr lang="en-US"/>
              <a:t>Workflow: 8 clusters (resolution=0.7)</a:t>
            </a:r>
          </a:p>
          <a:p>
            <a:pPr lvl="1"/>
            <a:r>
              <a:rPr lang="en-US"/>
              <a:t>Tests: 9 clusters (resolution=1), 7 clusters (resolution=0.5)</a:t>
            </a:r>
          </a:p>
          <a:p>
            <a:r>
              <a:rPr lang="en-US"/>
              <a:t>PAGA: partition-based graph abstraction</a:t>
            </a:r>
          </a:p>
          <a:p>
            <a:pPr lvl="1"/>
            <a:r>
              <a:rPr lang="en-US"/>
              <a:t>spatial layout should mean something biologically (incorporate connection amongst clusters)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27B41-7B5A-946E-C33F-C6A378551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43" y="2148724"/>
            <a:ext cx="4093042" cy="370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80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31E6-C36D-2643-4A54-7BDDA5A9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C797-110F-DD8B-9227-371E46BA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with leiden (normal vs PAGA)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A271B-8DDA-7E7F-3F27-E280465BD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533" y="1851324"/>
            <a:ext cx="4126266" cy="4369883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77DDE83-9681-E5F8-A4A5-52FD37FD6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1" y="1851325"/>
            <a:ext cx="4126266" cy="43698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AB367A-A33F-FFD2-DCE9-3D81BF12E812}"/>
              </a:ext>
            </a:extLst>
          </p:cNvPr>
          <p:cNvSpPr txBox="1"/>
          <p:nvPr/>
        </p:nvSpPr>
        <p:spPr>
          <a:xfrm>
            <a:off x="2248930" y="158634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normal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022B0B-6B7B-9B39-0090-5E4F4F094440}"/>
              </a:ext>
            </a:extLst>
          </p:cNvPr>
          <p:cNvSpPr txBox="1"/>
          <p:nvPr/>
        </p:nvSpPr>
        <p:spPr>
          <a:xfrm>
            <a:off x="8738444" y="1586340"/>
            <a:ext cx="69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PAGA</a:t>
            </a:r>
          </a:p>
        </p:txBody>
      </p:sp>
    </p:spTree>
    <p:extLst>
      <p:ext uri="{BB962C8B-B14F-4D97-AF65-F5344CB8AC3E}">
        <p14:creationId xmlns:p14="http://schemas.microsoft.com/office/powerpoint/2010/main" val="1912631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75E3-AD60-7F6C-DBE0-8E65EB38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3E66-AA53-06EA-1526-7D897D0AC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47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1900"/>
              <a:t>Marker genes</a:t>
            </a:r>
          </a:p>
          <a:p>
            <a:pPr lvl="1"/>
            <a:r>
              <a:rPr lang="en-US" sz="1600"/>
              <a:t>IL7R - CD4 T cells</a:t>
            </a:r>
          </a:p>
          <a:p>
            <a:pPr lvl="1"/>
            <a:r>
              <a:rPr lang="en-US" sz="1600"/>
              <a:t>MS4A1, CD79A - B cells</a:t>
            </a:r>
          </a:p>
          <a:p>
            <a:pPr lvl="1"/>
            <a:r>
              <a:rPr lang="en-US" sz="1600"/>
              <a:t>CD14, LYZ, S100A8 - CD14+ Monocytes</a:t>
            </a:r>
          </a:p>
          <a:p>
            <a:pPr lvl="1"/>
            <a:r>
              <a:rPr lang="en-US" sz="1600"/>
              <a:t>CD8A, CD8B - CD8 T cells</a:t>
            </a:r>
          </a:p>
          <a:p>
            <a:pPr lvl="1"/>
            <a:r>
              <a:rPr lang="en-US" sz="1600"/>
              <a:t>GNLY, NKG7 - NK cells</a:t>
            </a:r>
          </a:p>
          <a:p>
            <a:pPr lvl="1"/>
            <a:r>
              <a:rPr lang="en-US" sz="1600"/>
              <a:t>FCGR3A, MS4A7 - FCGR3A+ Monocytes</a:t>
            </a:r>
          </a:p>
          <a:p>
            <a:pPr lvl="1"/>
            <a:r>
              <a:rPr lang="en-US" sz="1600"/>
              <a:t>FCER1A, CST3, CLEC10A - Dendritic Cells</a:t>
            </a:r>
          </a:p>
          <a:p>
            <a:pPr lvl="1"/>
            <a:r>
              <a:rPr lang="en-US" sz="1600"/>
              <a:t>PPBP - Megakaryocytes</a:t>
            </a:r>
          </a:p>
          <a:p>
            <a:r>
              <a:rPr lang="en-US" sz="1900"/>
              <a:t>PBMC workflow: just assigned cell types </a:t>
            </a:r>
          </a:p>
          <a:p>
            <a:r>
              <a:rPr lang="en-US" sz="1900">
                <a:solidFill>
                  <a:srgbClr val="FF0000"/>
                </a:solidFill>
              </a:rPr>
              <a:t>Idea: Compare </a:t>
            </a:r>
          </a:p>
          <a:p>
            <a:pPr lvl="1"/>
            <a:r>
              <a:rPr lang="en-US" sz="1600"/>
              <a:t>for each cell : Compute scores for a set of marker genes (compare to random set of genes)</a:t>
            </a:r>
          </a:p>
          <a:p>
            <a:pPr lvl="1"/>
            <a:r>
              <a:rPr lang="en-US" sz="1600"/>
              <a:t>Mean score over all cells in a cluster determines which set of genes is highly expressed</a:t>
            </a:r>
          </a:p>
          <a:p>
            <a:pPr lvl="1"/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B4031-71AF-F1E2-4401-50F35F77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03"/>
          <a:stretch>
            <a:fillRect/>
          </a:stretch>
        </p:blipFill>
        <p:spPr>
          <a:xfrm>
            <a:off x="5091671" y="3366037"/>
            <a:ext cx="6680200" cy="3215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C7997E-274C-578A-7D3B-1346789175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02" b="1"/>
          <a:stretch>
            <a:fillRect/>
          </a:stretch>
        </p:blipFill>
        <p:spPr>
          <a:xfrm>
            <a:off x="5186921" y="150276"/>
            <a:ext cx="6489700" cy="321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99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3D50-2607-DBEE-21B4-52C88608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CD8E-A35F-C5E0-214C-574EECD9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Installation</a:t>
            </a:r>
          </a:p>
          <a:p>
            <a:pPr lvl="1"/>
            <a:r>
              <a:rPr lang="en-US"/>
              <a:t>Could not do Recommended: requires GPU</a:t>
            </a:r>
          </a:p>
          <a:p>
            <a:pPr lvl="2"/>
            <a:r>
              <a:rPr lang="en-US"/>
              <a:t>pip install scgpt "flash-attn&lt;1.0.5”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Is CPU-only fine?</a:t>
            </a:r>
          </a:p>
          <a:p>
            <a:r>
              <a:rPr lang="en-US">
                <a:solidFill>
                  <a:srgbClr val="FF0000"/>
                </a:solidFill>
              </a:rPr>
              <a:t>Next Steps</a:t>
            </a:r>
          </a:p>
          <a:p>
            <a:pPr lvl="1"/>
            <a:r>
              <a:rPr lang="en-US"/>
              <a:t>Make example scripts and tutorial run</a:t>
            </a:r>
          </a:p>
          <a:p>
            <a:pPr lvl="2"/>
            <a:r>
              <a:rPr lang="en-US"/>
              <a:t>Import packages (scvi-tools etc)</a:t>
            </a:r>
          </a:p>
          <a:p>
            <a:pPr lvl="2"/>
            <a:r>
              <a:rPr lang="en-US"/>
              <a:t>Download necessary files </a:t>
            </a:r>
          </a:p>
          <a:p>
            <a:pPr lvl="1"/>
            <a:r>
              <a:rPr lang="en-US"/>
              <a:t>Follow tutorials (eg. Annotation) and understand </a:t>
            </a:r>
          </a:p>
          <a:p>
            <a:pPr lvl="1"/>
            <a:r>
              <a:rPr lang="en-US"/>
              <a:t>Understand implementation of methods (look at source code)</a:t>
            </a:r>
          </a:p>
        </p:txBody>
      </p:sp>
    </p:spTree>
    <p:extLst>
      <p:ext uri="{BB962C8B-B14F-4D97-AF65-F5344CB8AC3E}">
        <p14:creationId xmlns:p14="http://schemas.microsoft.com/office/powerpoint/2010/main" val="21333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11420</TotalTime>
  <Words>809</Words>
  <Application>Microsoft Macintosh PowerPoint</Application>
  <PresentationFormat>Widescreen</PresentationFormat>
  <Paragraphs>130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Progress Reoport</vt:lpstr>
      <vt:lpstr>PBMC3k</vt:lpstr>
      <vt:lpstr>Basic filtering</vt:lpstr>
      <vt:lpstr>QC metrics</vt:lpstr>
      <vt:lpstr>QC metrics</vt:lpstr>
      <vt:lpstr>Basic metrics</vt:lpstr>
      <vt:lpstr>Basic metrics</vt:lpstr>
      <vt:lpstr>Thresholds</vt:lpstr>
      <vt:lpstr>Outliers: pct_counts_mt, n_genes_by_count</vt:lpstr>
      <vt:lpstr>Outliers: MAD approach + Count Depth</vt:lpstr>
      <vt:lpstr>QC result (PBMC workflow)</vt:lpstr>
      <vt:lpstr>Doublet Detection</vt:lpstr>
      <vt:lpstr>Normalization result</vt:lpstr>
      <vt:lpstr>HVGs: Seurat </vt:lpstr>
      <vt:lpstr>PCA</vt:lpstr>
      <vt:lpstr>PCA</vt:lpstr>
      <vt:lpstr>Clustering with leiden</vt:lpstr>
      <vt:lpstr>Clustering with leiden (normal vs PAGA)</vt:lpstr>
      <vt:lpstr>Annotation</vt:lpstr>
      <vt:lpstr>scGPT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Selina Ernst </dc:creator>
  <cp:lastModifiedBy>Selina Ernst </cp:lastModifiedBy>
  <cp:revision>3</cp:revision>
  <dcterms:created xsi:type="dcterms:W3CDTF">2026-08-20T08:23:38Z</dcterms:created>
  <dcterms:modified xsi:type="dcterms:W3CDTF">2026-09-04T08:42:45Z</dcterms:modified>
</cp:coreProperties>
</file>