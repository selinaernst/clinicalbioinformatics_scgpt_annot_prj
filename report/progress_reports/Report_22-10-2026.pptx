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7" r:id="rId5"/>
    <p:sldId id="260" r:id="rId6"/>
    <p:sldId id="259" r:id="rId7"/>
    <p:sldId id="263" r:id="rId8"/>
    <p:sldId id="261" r:id="rId9"/>
    <p:sldId id="264" r:id="rId10"/>
    <p:sldId id="262" r:id="rId11"/>
    <p:sldId id="265" r:id="rId12"/>
    <p:sldId id="266" r:id="rId13"/>
    <p:sldId id="269" r:id="rId14"/>
    <p:sldId id="270" r:id="rId15"/>
    <p:sldId id="272" r:id="rId16"/>
    <p:sldId id="276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9"/>
  </p:normalViewPr>
  <p:slideViewPr>
    <p:cSldViewPr snapToGrid="0">
      <p:cViewPr varScale="1">
        <p:scale>
          <a:sx n="95" d="100"/>
          <a:sy n="95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4B8F-54A2-6A47-94F5-F2A61CEFF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38286-872C-A3EF-D232-9E61DE793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71E55-B822-AB62-D5A2-1085AC77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FB61-A186-B533-BBD0-D8D3755E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19F1E-C79F-7B5A-1ABF-8DE1F377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9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692F-3D1B-10C8-FFB8-F18AC8DF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DD209-67F8-1674-E03D-5A688F8F6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5B46F-2990-67AB-9AAE-E282A614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7B22F-1559-5159-3A64-960F72F7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4DF66-4F27-4EE0-177E-BD6E7FBD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92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8033-4BCF-55E6-46EB-7EE4486D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C0B84-E70B-52F9-D4FA-93083E442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6FE2C-8450-D1DA-74B0-50950CD3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97250-2107-4994-1E86-971E6BDF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B59FA-65CE-02F0-17F1-596E4D6D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6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44B8-D0FA-AF47-9503-919C3A46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16C1A-409A-DF6C-0530-56711D9F4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5FED-52BC-D95A-3766-02D12F45E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D6ABF-E8A7-5E3E-5EE5-EDF9ABD4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5A159-E280-4BD3-ED59-E49459C3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C8146-12D3-ACE5-4F49-EF6D89E4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6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38D4-E675-D70F-BB83-3CBEF778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AB090-5006-15D0-3346-EB34725E0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39A18-4939-26FC-D05F-0AAFB8582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CA28D5-4D05-74E9-2FF2-29421147A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4CF2C-5E0B-C936-D044-7AA4206F6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2502D4-10E9-C00A-A7A1-9FE05FE7B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E2B226-FEC5-F6D0-7F0C-40B20A26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1C658-B8E5-DA35-8795-C0F95DE8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1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29D6-B71F-587E-3F04-2C8299C5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89B1B-1F94-1BD9-5838-E5433BA9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EF0C6-9292-FFB0-49B5-2CCE3448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360B6-1050-9382-2A4D-AD7F07D0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41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9F03AD-2686-5847-31BA-3B1DACD7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AE26D-9092-83B4-96B2-55A32EC4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FEA92-B8FD-31E0-6EA2-5F63B5CF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1E360-4773-94C6-E148-4372908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96B9-8786-AAD3-99FC-F412ACA47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6D29D-CF3B-5D6F-D14D-D87B6983B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ECEA9-E5AA-4A89-E230-31E1EF0F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46916-220A-12FA-2546-5B0582578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DDE52-7282-F139-5C16-F8B04671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95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9341-8A18-492D-5A78-A058B438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53FF37-E20C-0E33-5EA2-A759D0281C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69700-5D84-774A-51BA-489A053BC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AE4CA-421D-8265-657D-BFC104F2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4B7AE-2AC3-D538-4259-6139B76A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7F938-B2C5-723F-F7E1-C92CC501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2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16B2-0145-0C59-F5D6-19A13DBE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E6B5E-C05F-4259-4F90-13C14ADF5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6E310-BF16-82A0-EC99-87C3FC79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7BA69-3F8A-C295-8DDA-918ED504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8624-9ACE-B652-E28C-0C88C575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2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CA6CB-3215-81BF-C3DD-92A30A3BDF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C3F2D-0B4D-B290-D9EF-0AB189696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29AB2-F359-78C6-2C2D-44323C592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40A89-112B-74C2-EDE6-CC14A053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5EA09-DF82-B542-2526-0E69BF30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9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35A15-BD6B-C5EC-D9D1-F17B708B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A1768-703E-342A-FBE1-4D50D23FC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F39D0-219E-6495-A941-7EB56B920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42DB8-4D46-0645-BC69-F7F072B7BF7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F6874-860C-55EB-03FF-175F1B57A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9AA2-27AA-5AED-BD60-9D621D875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A3068-9655-F042-8E79-F66ABD7E8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9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AA34-A33F-4B00-F4FE-FE72EE2BE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3EE67-372C-B069-DDE4-08D897844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22.10.2026</a:t>
            </a:r>
          </a:p>
        </p:txBody>
      </p:sp>
    </p:spTree>
    <p:extLst>
      <p:ext uri="{BB962C8B-B14F-4D97-AF65-F5344CB8AC3E}">
        <p14:creationId xmlns:p14="http://schemas.microsoft.com/office/powerpoint/2010/main" val="212429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B1CFB-4311-C6F7-0710-620B274C15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58"/>
          <a:stretch>
            <a:fillRect/>
          </a:stretch>
        </p:blipFill>
        <p:spPr>
          <a:xfrm>
            <a:off x="85167" y="2692729"/>
            <a:ext cx="5262884" cy="41652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B1706-E985-44A8-9359-BF37A6A83846}"/>
              </a:ext>
            </a:extLst>
          </p:cNvPr>
          <p:cNvSpPr txBox="1">
            <a:spLocks/>
          </p:cNvSpPr>
          <p:nvPr/>
        </p:nvSpPr>
        <p:spPr>
          <a:xfrm>
            <a:off x="219636" y="110894"/>
            <a:ext cx="3276600" cy="1072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Cell types of MS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FCA8D-0AD1-B286-D7E5-DD28EE1A0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988" y="165522"/>
            <a:ext cx="5071548" cy="2527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FA177A-6FC3-F752-A494-3E5215310666}"/>
              </a:ext>
            </a:extLst>
          </p:cNvPr>
          <p:cNvSpPr txBox="1"/>
          <p:nvPr/>
        </p:nvSpPr>
        <p:spPr>
          <a:xfrm>
            <a:off x="9533964" y="323952"/>
            <a:ext cx="1813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cells</a:t>
            </a:r>
          </a:p>
          <a:p>
            <a:r>
              <a:rPr lang="en-US" dirty="0"/>
              <a:t>0: 7844, 1: 13468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CFB865-6918-E50B-ED5C-BE45E6F36A8B}"/>
              </a:ext>
            </a:extLst>
          </p:cNvPr>
          <p:cNvSpPr txBox="1"/>
          <p:nvPr/>
        </p:nvSpPr>
        <p:spPr>
          <a:xfrm>
            <a:off x="4289612" y="13447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60C7A5F-17C6-2B8D-3EF1-2BD988E05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995282"/>
              </p:ext>
            </p:extLst>
          </p:nvPr>
        </p:nvGraphicFramePr>
        <p:xfrm>
          <a:off x="9016217" y="1183342"/>
          <a:ext cx="3090616" cy="4053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11540631"/>
                    </a:ext>
                  </a:extLst>
                </a:gridCol>
                <a:gridCol w="457021">
                  <a:extLst>
                    <a:ext uri="{9D8B030D-6E8A-4147-A177-3AD203B41FA5}">
                      <a16:colId xmlns:a16="http://schemas.microsoft.com/office/drawing/2014/main" val="2142150232"/>
                    </a:ext>
                  </a:extLst>
                </a:gridCol>
                <a:gridCol w="617595">
                  <a:extLst>
                    <a:ext uri="{9D8B030D-6E8A-4147-A177-3AD203B41FA5}">
                      <a16:colId xmlns:a16="http://schemas.microsoft.com/office/drawing/2014/main" val="1017108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0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1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60726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oligodendrocyte C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34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4400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phagocyte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82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39648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microglial cell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118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83055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endothelial cell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38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170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5456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oligodendrocyte A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1216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84171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oligodendrocyte precursor cell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55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866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20643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mixed glial cell?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60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573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27028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mixed excitatory neuron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114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185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3159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astrocyte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154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1330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0578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SST-expressing interneuron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172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258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1205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SV2C-expressing interneuron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234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344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920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pyramidal neuron?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413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528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6422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PVALB-expressing interneuron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569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878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77643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VIP-expressing interneuron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662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1158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9145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cortical layer 5-6 excitatory neuron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997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1732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83183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cortical layer 2-3 excitatory neuron B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1019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2178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1191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cortical layer 4 excitatory neuron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1284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1504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71312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cortical layer 2-3 excitatory neuron A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>
                          <a:effectLst/>
                        </a:rPr>
                        <a:t>2010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314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68891552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0CB37BF4-4814-FA82-A838-A69454D4C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555" t="28125" b="26713"/>
          <a:stretch>
            <a:fillRect/>
          </a:stretch>
        </p:blipFill>
        <p:spPr>
          <a:xfrm>
            <a:off x="5474003" y="4822943"/>
            <a:ext cx="2739896" cy="20025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156BB84-CBBD-EE2B-5953-FEB894E7EC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61" t="26485" r="25324" b="27421"/>
          <a:stretch>
            <a:fillRect/>
          </a:stretch>
        </p:blipFill>
        <p:spPr>
          <a:xfrm>
            <a:off x="5397025" y="2811464"/>
            <a:ext cx="3227294" cy="204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1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3A10-7776-FAEB-4238-63787D94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35" y="110894"/>
            <a:ext cx="9946341" cy="430306"/>
          </a:xfrm>
        </p:spPr>
        <p:txBody>
          <a:bodyPr>
            <a:noAutofit/>
          </a:bodyPr>
          <a:lstStyle/>
          <a:p>
            <a:r>
              <a:rPr lang="en-US" sz="3200" dirty="0"/>
              <a:t>Cell type predictions for MS Dataset: confusion matrix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96F6505-90C1-B901-9B12-60122CBA7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3860" y="662826"/>
            <a:ext cx="6084280" cy="608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3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125CE-C2FB-B490-3E1F-F046E1C2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CB63-EEE6-970B-642F-BDA5C46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35" y="110894"/>
            <a:ext cx="10780059" cy="430306"/>
          </a:xfrm>
        </p:spPr>
        <p:txBody>
          <a:bodyPr>
            <a:noAutofit/>
          </a:bodyPr>
          <a:lstStyle/>
          <a:p>
            <a:r>
              <a:rPr lang="en-US" sz="3200" dirty="0"/>
              <a:t>Cell type predictions for MS Dataset: mean true positive rate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6B99F6-6542-30F1-B23C-8638DE9BE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585" y="709836"/>
            <a:ext cx="9078830" cy="603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2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31CE3F-F400-74DC-34B0-50571CFC0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412" y="541200"/>
            <a:ext cx="7434597" cy="62640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FCC18C4-9EEA-53F9-754E-15DC5A7AD3B1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11264153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Misclassification matrix: mean false positive for each cell type  </a:t>
            </a:r>
          </a:p>
        </p:txBody>
      </p:sp>
    </p:spTree>
    <p:extLst>
      <p:ext uri="{BB962C8B-B14F-4D97-AF65-F5344CB8AC3E}">
        <p14:creationId xmlns:p14="http://schemas.microsoft.com/office/powerpoint/2010/main" val="388897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93608F-53A2-D281-F4DC-351B9C3F5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" y="541200"/>
            <a:ext cx="9295038" cy="62059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3B3267E-8396-C9DC-350D-DA25479033E1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8211671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Predicted cell types for oligodendrocyte C</a:t>
            </a:r>
          </a:p>
        </p:txBody>
      </p:sp>
    </p:spTree>
    <p:extLst>
      <p:ext uri="{BB962C8B-B14F-4D97-AF65-F5344CB8AC3E}">
        <p14:creationId xmlns:p14="http://schemas.microsoft.com/office/powerpoint/2010/main" val="38223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69EED0-E9C1-6BE1-642F-53CF326D6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635" y="541200"/>
            <a:ext cx="9295036" cy="62059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6A83977-5EEA-784A-0458-628A162B2720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8211671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Predicted cell types for pyramidal neuron</a:t>
            </a:r>
          </a:p>
        </p:txBody>
      </p:sp>
    </p:spTree>
    <p:extLst>
      <p:ext uri="{BB962C8B-B14F-4D97-AF65-F5344CB8AC3E}">
        <p14:creationId xmlns:p14="http://schemas.microsoft.com/office/powerpoint/2010/main" val="288040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1EFBE-A3D2-7C40-91CA-45AA6556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" y="541200"/>
            <a:ext cx="9295037" cy="62059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C8D58E-98F3-3E0E-1ABB-AE153519EF59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8211671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Predicted cell types for microglial cell</a:t>
            </a:r>
          </a:p>
        </p:txBody>
      </p:sp>
    </p:spTree>
    <p:extLst>
      <p:ext uri="{BB962C8B-B14F-4D97-AF65-F5344CB8AC3E}">
        <p14:creationId xmlns:p14="http://schemas.microsoft.com/office/powerpoint/2010/main" val="345399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ADD4DA-6DCC-6F94-7640-0A6307237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635" y="541200"/>
            <a:ext cx="9295036" cy="62059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D5C8246-8369-1C30-6ADB-3A0E50E6E395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8211671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Predicted cell types for endothelial cell</a:t>
            </a:r>
          </a:p>
        </p:txBody>
      </p:sp>
    </p:spTree>
    <p:extLst>
      <p:ext uri="{BB962C8B-B14F-4D97-AF65-F5344CB8AC3E}">
        <p14:creationId xmlns:p14="http://schemas.microsoft.com/office/powerpoint/2010/main" val="1361584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837723-9F62-37DB-FF4D-2EC5E8C14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4" y="541200"/>
            <a:ext cx="7919787" cy="62059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BA8FE6E-302A-54AD-0A76-5505ED395E20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8211671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Predicted cell types for phagocyte</a:t>
            </a:r>
          </a:p>
        </p:txBody>
      </p:sp>
    </p:spTree>
    <p:extLst>
      <p:ext uri="{BB962C8B-B14F-4D97-AF65-F5344CB8AC3E}">
        <p14:creationId xmlns:p14="http://schemas.microsoft.com/office/powerpoint/2010/main" val="352866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9E7D-C75B-4E99-18F8-FD9AD667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1CCA6A-79EC-40BE-C96C-2DBD9432948D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8211671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Predicted cell types for mixed glial cell?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270B8E-2AD6-A383-7A14-8D56CA7FB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" y="541201"/>
            <a:ext cx="9295037" cy="620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8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B1DD2-434A-4C0F-2F34-076496749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9E5E5FA-E478-17BB-BE9D-7DC56C2EBD6B}"/>
              </a:ext>
            </a:extLst>
          </p:cNvPr>
          <p:cNvSpPr txBox="1">
            <a:spLocks/>
          </p:cNvSpPr>
          <p:nvPr/>
        </p:nvSpPr>
        <p:spPr>
          <a:xfrm>
            <a:off x="219635" y="110894"/>
            <a:ext cx="8211671" cy="430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Predicted cell types for mixed glial cell?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9167C2-78FE-8F3D-DECF-E4454248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" y="541200"/>
            <a:ext cx="8797459" cy="620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6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ED3C-5E1C-ECFE-04D5-FA46FD0B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128CD5-E40B-059C-3FCB-BE1C0B8EBC43}"/>
              </a:ext>
            </a:extLst>
          </p:cNvPr>
          <p:cNvSpPr txBox="1">
            <a:spLocks/>
          </p:cNvSpPr>
          <p:nvPr/>
        </p:nvSpPr>
        <p:spPr>
          <a:xfrm>
            <a:off x="219636" y="110894"/>
            <a:ext cx="3276600" cy="1072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Cell types of PBMC3k Dataset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7ADC01-9EC0-9690-70DF-6BCD82CAA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6" y="1779885"/>
            <a:ext cx="8588188" cy="49672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9819FE-537C-0DE6-4771-09AC058F8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207" y="769801"/>
            <a:ext cx="4894157" cy="243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C076F4-6515-56BF-9386-2239142C018D}"/>
              </a:ext>
            </a:extLst>
          </p:cNvPr>
          <p:cNvSpPr txBox="1"/>
          <p:nvPr/>
        </p:nvSpPr>
        <p:spPr>
          <a:xfrm>
            <a:off x="10448365" y="3092824"/>
            <a:ext cx="1636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cells</a:t>
            </a:r>
          </a:p>
          <a:p>
            <a:r>
              <a:rPr lang="en-US" dirty="0"/>
              <a:t>0: 791, 1: 1847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A9F605-43A3-33BA-3087-0DADB7225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619345"/>
              </p:ext>
            </p:extLst>
          </p:nvPr>
        </p:nvGraphicFramePr>
        <p:xfrm>
          <a:off x="9344364" y="3774634"/>
          <a:ext cx="2628000" cy="1748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3906">
                  <a:extLst>
                    <a:ext uri="{9D8B030D-6E8A-4147-A177-3AD203B41FA5}">
                      <a16:colId xmlns:a16="http://schemas.microsoft.com/office/drawing/2014/main" val="3213395000"/>
                    </a:ext>
                  </a:extLst>
                </a:gridCol>
                <a:gridCol w="507314">
                  <a:extLst>
                    <a:ext uri="{9D8B030D-6E8A-4147-A177-3AD203B41FA5}">
                      <a16:colId xmlns:a16="http://schemas.microsoft.com/office/drawing/2014/main" val="3987507996"/>
                    </a:ext>
                  </a:extLst>
                </a:gridCol>
                <a:gridCol w="406780">
                  <a:extLst>
                    <a:ext uri="{9D8B030D-6E8A-4147-A177-3AD203B41FA5}">
                      <a16:colId xmlns:a16="http://schemas.microsoft.com/office/drawing/2014/main" val="2968704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989540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Megakaryocytes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343929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Dendritic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25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3149689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NK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107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3772226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FCGR3A+ Monocytes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51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106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38787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CD8 T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73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214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2711957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B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104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240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741072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CD14+ Monocytes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150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332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161295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CD4 T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352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815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4259820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925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6F4D1E-B367-BB64-2B88-CE3EA5719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39" y="1098802"/>
            <a:ext cx="5289991" cy="55676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56EA68E-DC3A-54FA-BD82-E4E97A045249}"/>
              </a:ext>
            </a:extLst>
          </p:cNvPr>
          <p:cNvSpPr txBox="1">
            <a:spLocks/>
          </p:cNvSpPr>
          <p:nvPr/>
        </p:nvSpPr>
        <p:spPr>
          <a:xfrm>
            <a:off x="219636" y="110894"/>
            <a:ext cx="10645588" cy="400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Choice of pre-trained model matters!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E3728A-7320-C394-B666-7F535E1E3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570" y="1179484"/>
            <a:ext cx="5289991" cy="55676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BB5FA4-E299-C318-4F6F-BED49B2A0C32}"/>
              </a:ext>
            </a:extLst>
          </p:cNvPr>
          <p:cNvSpPr txBox="1"/>
          <p:nvPr/>
        </p:nvSpPr>
        <p:spPr>
          <a:xfrm>
            <a:off x="403411" y="725612"/>
            <a:ext cx="459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scGPT_human</a:t>
            </a:r>
            <a:r>
              <a:rPr lang="en-US" dirty="0"/>
              <a:t>:  33 million normal human cells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853D8-B1E7-3DBF-3A83-2771B598DED3}"/>
              </a:ext>
            </a:extLst>
          </p:cNvPr>
          <p:cNvSpPr txBox="1"/>
          <p:nvPr/>
        </p:nvSpPr>
        <p:spPr>
          <a:xfrm>
            <a:off x="6649569" y="725612"/>
            <a:ext cx="528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scGPT_bc</a:t>
            </a:r>
            <a:r>
              <a:rPr lang="en-US" dirty="0"/>
              <a:t>: 10.3 million blood and bone marrow cells</a:t>
            </a:r>
          </a:p>
        </p:txBody>
      </p:sp>
    </p:spTree>
    <p:extLst>
      <p:ext uri="{BB962C8B-B14F-4D97-AF65-F5344CB8AC3E}">
        <p14:creationId xmlns:p14="http://schemas.microsoft.com/office/powerpoint/2010/main" val="199105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33CD-8B7E-0F17-ADA8-BA9BE004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BDED1F-F2FE-FDDA-5D38-D5A470A6AF8E}"/>
              </a:ext>
            </a:extLst>
          </p:cNvPr>
          <p:cNvSpPr txBox="1">
            <a:spLocks/>
          </p:cNvSpPr>
          <p:nvPr/>
        </p:nvSpPr>
        <p:spPr>
          <a:xfrm>
            <a:off x="219636" y="110894"/>
            <a:ext cx="10645588" cy="400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Choice of pre-trained model matters!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2BD55-FCEA-B41F-CBAB-6BBDB29A191F}"/>
              </a:ext>
            </a:extLst>
          </p:cNvPr>
          <p:cNvSpPr txBox="1"/>
          <p:nvPr/>
        </p:nvSpPr>
        <p:spPr>
          <a:xfrm>
            <a:off x="403411" y="725612"/>
            <a:ext cx="4598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scGPT_human</a:t>
            </a:r>
            <a:r>
              <a:rPr lang="en-US" dirty="0"/>
              <a:t>:  33 million normal human cells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845DE-B1CE-268C-07D7-3CA0783B3ABD}"/>
              </a:ext>
            </a:extLst>
          </p:cNvPr>
          <p:cNvSpPr txBox="1"/>
          <p:nvPr/>
        </p:nvSpPr>
        <p:spPr>
          <a:xfrm>
            <a:off x="6649569" y="725612"/>
            <a:ext cx="5289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scGPT_bc</a:t>
            </a:r>
            <a:r>
              <a:rPr lang="en-US" dirty="0"/>
              <a:t>: 10.3 million blood and bone marrow cells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95C20-BB6D-472D-6AB8-5E1022C31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39" y="1094944"/>
            <a:ext cx="5692589" cy="55277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B72B01-4C7F-EE5C-834B-7D1AE600C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411" y="1094943"/>
            <a:ext cx="5692589" cy="552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29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66DC1-B974-5251-2A15-9CA17FA2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30578E-BB81-1E9E-6ADE-A2990887A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052" b="33726"/>
          <a:stretch>
            <a:fillRect/>
          </a:stretch>
        </p:blipFill>
        <p:spPr>
          <a:xfrm>
            <a:off x="364340" y="1411942"/>
            <a:ext cx="6566294" cy="3509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C8445-8390-9CF3-AE86-580184187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778" b="-1"/>
          <a:stretch>
            <a:fillRect/>
          </a:stretch>
        </p:blipFill>
        <p:spPr>
          <a:xfrm>
            <a:off x="6930634" y="3428999"/>
            <a:ext cx="5107118" cy="272975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FC6FE2-8D0B-AEB3-8078-9C5CD75F9305}"/>
              </a:ext>
            </a:extLst>
          </p:cNvPr>
          <p:cNvSpPr txBox="1">
            <a:spLocks/>
          </p:cNvSpPr>
          <p:nvPr/>
        </p:nvSpPr>
        <p:spPr>
          <a:xfrm>
            <a:off x="219636" y="110894"/>
            <a:ext cx="3276600" cy="4942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Sarcoma Dataset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F8609-08F1-33E0-4314-9DA3FC411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634" y="420109"/>
            <a:ext cx="4786235" cy="30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1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20CFF8-153F-9E2D-41BF-0ECC05EB2DC2}"/>
              </a:ext>
            </a:extLst>
          </p:cNvPr>
          <p:cNvSpPr txBox="1">
            <a:spLocks/>
          </p:cNvSpPr>
          <p:nvPr/>
        </p:nvSpPr>
        <p:spPr>
          <a:xfrm>
            <a:off x="219636" y="110894"/>
            <a:ext cx="3276600" cy="4942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Sarcoma Dataset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A8468E-0B1C-09BD-4770-B89CC5BC9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055644"/>
              </p:ext>
            </p:extLst>
          </p:nvPr>
        </p:nvGraphicFramePr>
        <p:xfrm>
          <a:off x="7234604" y="1856876"/>
          <a:ext cx="3558987" cy="155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6329">
                  <a:extLst>
                    <a:ext uri="{9D8B030D-6E8A-4147-A177-3AD203B41FA5}">
                      <a16:colId xmlns:a16="http://schemas.microsoft.com/office/drawing/2014/main" val="2805100012"/>
                    </a:ext>
                  </a:extLst>
                </a:gridCol>
                <a:gridCol w="1186329">
                  <a:extLst>
                    <a:ext uri="{9D8B030D-6E8A-4147-A177-3AD203B41FA5}">
                      <a16:colId xmlns:a16="http://schemas.microsoft.com/office/drawing/2014/main" val="3369167391"/>
                    </a:ext>
                  </a:extLst>
                </a:gridCol>
                <a:gridCol w="1186329">
                  <a:extLst>
                    <a:ext uri="{9D8B030D-6E8A-4147-A177-3AD203B41FA5}">
                      <a16:colId xmlns:a16="http://schemas.microsoft.com/office/drawing/2014/main" val="2194744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350006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dirty="0">
                          <a:effectLst/>
                        </a:rPr>
                        <a:t>T cells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40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75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210189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Myeloid cells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139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3387853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B cells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56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112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275595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Epithelial cells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65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165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655386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Endothelial cells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91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178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253662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Fibroblasts/Pericytes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102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262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264819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>
                          <a:effectLst/>
                        </a:rPr>
                        <a:t>Tumor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2894</a:t>
                      </a:r>
                      <a:endParaRPr lang="en-US" sz="900" b="0" i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6760</a:t>
                      </a:r>
                      <a:endParaRPr lang="en-US" sz="900" b="0" i="0" dirty="0">
                        <a:solidFill>
                          <a:srgbClr val="BBBEBF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47625" marR="47625" marT="28575" marB="28575" anchor="ctr"/>
                </a:tc>
                <a:extLst>
                  <a:ext uri="{0D108BD9-81ED-4DB2-BD59-A6C34878D82A}">
                    <a16:rowId xmlns:a16="http://schemas.microsoft.com/office/drawing/2014/main" val="195320339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66CCD47-F9C3-9D46-AEF2-C5760F3AD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6" y="817877"/>
            <a:ext cx="6795669" cy="48702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3756F3-0DCD-B2A1-E7AD-A2984FCCDF4C}"/>
              </a:ext>
            </a:extLst>
          </p:cNvPr>
          <p:cNvSpPr txBox="1"/>
          <p:nvPr/>
        </p:nvSpPr>
        <p:spPr>
          <a:xfrm>
            <a:off x="8024852" y="1118918"/>
            <a:ext cx="197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0: train (3296 cells)</a:t>
            </a:r>
          </a:p>
          <a:p>
            <a:r>
              <a:rPr lang="en-US" dirty="0"/>
              <a:t>1: test (7691 cells)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24E53F-9796-0EDF-FA8B-3D909E3EB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423" y="3624115"/>
            <a:ext cx="5804733" cy="287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94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53C3-79C5-A51A-6B2A-C728D8C5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issues that came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A27C5-496A-4590-79A5-C9789D21A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Processing step requires positive values (raw or log1p normalized)</a:t>
            </a:r>
          </a:p>
          <a:p>
            <a:r>
              <a:rPr lang="en-US" dirty="0"/>
              <a:t>Job with heroes (sarcoma) dataset requires </a:t>
            </a:r>
            <a:r>
              <a:rPr lang="en-US" dirty="0" err="1"/>
              <a:t>highmem</a:t>
            </a:r>
            <a:r>
              <a:rPr lang="en-US" dirty="0"/>
              <a:t> queue (at least 300GB)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Regarding the fine-tuning: train classifier -&gt; any cell type label you want the model to be able to predict has to be included in the training data set</a:t>
            </a:r>
          </a:p>
        </p:txBody>
      </p:sp>
    </p:spTree>
    <p:extLst>
      <p:ext uri="{BB962C8B-B14F-4D97-AF65-F5344CB8AC3E}">
        <p14:creationId xmlns:p14="http://schemas.microsoft.com/office/powerpoint/2010/main" val="353411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391</Words>
  <Application>Microsoft Macintosh PowerPoint</Application>
  <PresentationFormat>Widescreen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Calibri</vt:lpstr>
      <vt:lpstr>Calibri Light</vt:lpstr>
      <vt:lpstr>Menlo</vt:lpstr>
      <vt:lpstr>Office Theme</vt:lpstr>
      <vt:lpstr>Progress Report</vt:lpstr>
      <vt:lpstr>PowerPoint Presentation</vt:lpstr>
      <vt:lpstr>Cell type predictions for MS Dataset: confusion matrix</vt:lpstr>
      <vt:lpstr>Cell type predictions for MS Dataset: mean true positive 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issues that came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Selina Ernst </dc:creator>
  <cp:lastModifiedBy>Selina Ernst </cp:lastModifiedBy>
  <cp:revision>3</cp:revision>
  <dcterms:created xsi:type="dcterms:W3CDTF">2026-10-22T10:26:48Z</dcterms:created>
  <dcterms:modified xsi:type="dcterms:W3CDTF">2026-10-23T11:10:38Z</dcterms:modified>
</cp:coreProperties>
</file>