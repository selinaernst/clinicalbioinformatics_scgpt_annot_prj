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1" r:id="rId4"/>
    <p:sldId id="263" r:id="rId5"/>
    <p:sldId id="266" r:id="rId6"/>
    <p:sldId id="264" r:id="rId7"/>
    <p:sldId id="267" r:id="rId8"/>
    <p:sldId id="257" r:id="rId9"/>
    <p:sldId id="258" r:id="rId10"/>
    <p:sldId id="259" r:id="rId11"/>
    <p:sldId id="260" r:id="rId12"/>
    <p:sldId id="269" r:id="rId13"/>
    <p:sldId id="27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69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0709-97D1-79BD-8515-07992AAC6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C51B8-6C10-919F-3FF3-4714280B3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D47D-5E4D-2704-68CA-905AD8A7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D8495-A424-DEA5-6C60-B433FE19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CF41-4694-439C-BD79-4D1B729F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4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6D44-7FAB-2518-DF03-7D698ED4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2E40-E653-93CB-7E8E-1B004A3CD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CD12B-C657-F0D3-E61B-41158215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C9D94-78E9-DC6B-7C5C-06D221B6A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17A-8CCA-571F-6A30-F64A66B8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9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ECCE-F4B9-02AE-8F62-F40EBB35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8EC77-E3A8-F630-16D3-14C1C3DC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DD39-5A3B-3144-27C0-BE1ABD77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63B83-16DE-FB99-DAB3-60645A90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51050-8E38-A175-C098-57B42807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E596-C007-A498-0B97-CC7423A4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91799-3234-8051-FF2B-55431360C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011E4-1BF8-474D-F364-F5CF59D07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D5BCE-A59C-04AE-7997-78AD920A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97AEA-6628-B43B-82AE-03A1A3F7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79EB8-86AB-FE56-0B98-CFDA0B39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4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08F1-B8A5-E2FC-F229-4849BC05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B4D53-4E2F-C5DF-69AB-972A3D61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C455C-2603-B193-7AFF-DAC1D56E2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8F7F7-5322-05A4-C9E2-41F01100E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61E81-D40B-32B6-4D36-19A50A01C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0C122D-2D65-31C6-E6B6-15879032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75B24-C96D-64DA-303C-E749C979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04C8A-4009-C50F-18AF-1D488455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7853-FF2A-4405-1BB3-0327DDA9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FAC53-19E3-BB00-FCAC-D3E79370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02C27E-0FFF-93CF-B0F4-FB264B86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2916A-8CAB-1ED0-8828-FC3ED786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9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22C54-D4ED-A58C-F824-AC0A4CCF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7B2F7-5A53-A012-3F29-22DDC118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7E-132D-0F95-F02C-8E2ACF7B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4419-23D5-9790-4244-5891A0AB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4321-5B7B-097E-0E52-A035329A1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DD5AC-06CB-C432-92DF-E118A2A85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8B50E-142A-7EAA-A4D3-D296FE7B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9339E-E9FF-3E1A-5F3B-50DED8A4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059B4-2922-1A61-3BE0-8E4B7E3E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8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1D6F-3DF7-7541-2EF6-4C8DA646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78518-EA7F-CE18-FF50-DEAFA18549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397B8-5468-1B75-298B-624A44734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86393-615A-CE68-CB01-9D7E7F6B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D0DF2-1295-82FC-D5EE-BC50683F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800F0-44EE-5428-B981-18C6B8BB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8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FE1B-F4BC-72F9-CA56-F3B6CCFC4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77135-23E0-D8B0-84C8-F40FB3B2B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DCC2-1398-D845-6C86-695E39A56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7A12B-835E-45D3-BAFA-468A6705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EF1C-A6BB-B75C-E724-C36130F5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9B4F6-6445-4847-1D94-E1B93C83E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EBE19-0999-7732-3B16-0531238EC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4421-F726-1C6C-22BC-CB7A7B51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11D0-537C-15DD-FBAC-7C74B9B5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94517-0458-7CC2-39F9-0B23C693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6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9F400-CBD2-FAC8-2816-129B178C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2AD45-2B15-7998-1F10-8EA5DD80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54089-FD75-98D8-EEDF-D5E464EAA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775B1-2CAC-5949-BFFE-F703F1E333E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1732-47FB-B0FB-BE6D-783626726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EF2B9-F31E-8EAC-19EA-FE900A9D0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E7CF1-3E83-7543-860A-E2A3E1B8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7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bowang-lab/scGPT/blob/main/tutorials/Tutorial_Reference_Mapping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8353-B897-764D-1BEF-628B2C08D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EB157-9603-728D-8CDC-C0CAF1AFC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02.10.2026</a:t>
            </a:r>
          </a:p>
        </p:txBody>
      </p:sp>
    </p:spTree>
    <p:extLst>
      <p:ext uri="{BB962C8B-B14F-4D97-AF65-F5344CB8AC3E}">
        <p14:creationId xmlns:p14="http://schemas.microsoft.com/office/powerpoint/2010/main" val="269795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6D31-6DE3-E013-BFDE-27D78AD9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330699-993C-99B7-CE87-69CE626B8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8" y="981636"/>
            <a:ext cx="7283824" cy="53409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E750D1-5B18-AA8E-4966-80931A66CF27}"/>
              </a:ext>
            </a:extLst>
          </p:cNvPr>
          <p:cNvSpPr/>
          <p:nvPr/>
        </p:nvSpPr>
        <p:spPr>
          <a:xfrm flipH="1" flipV="1">
            <a:off x="6373905" y="2339787"/>
            <a:ext cx="1089211" cy="12102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9FCEB-DDBE-947F-7777-C3213A59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507" y="365126"/>
            <a:ext cx="4370293" cy="616510"/>
          </a:xfrm>
        </p:spPr>
        <p:txBody>
          <a:bodyPr>
            <a:normAutofit fontScale="90000"/>
          </a:bodyPr>
          <a:lstStyle/>
          <a:p>
            <a:r>
              <a:rPr lang="en-US" dirty="0"/>
              <a:t>MS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70754-3B70-8198-34D6-A48D2A056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85" r="51384"/>
          <a:stretch>
            <a:fillRect/>
          </a:stretch>
        </p:blipFill>
        <p:spPr>
          <a:xfrm>
            <a:off x="8135471" y="3575410"/>
            <a:ext cx="3627178" cy="2747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FF231-6140-4582-59C6-430C18E16B08}"/>
              </a:ext>
            </a:extLst>
          </p:cNvPr>
          <p:cNvSpPr txBox="1"/>
          <p:nvPr/>
        </p:nvSpPr>
        <p:spPr>
          <a:xfrm>
            <a:off x="1559860" y="6322546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fine-tuning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D2EB0-D421-EC6E-BE1E-A77BB66ADAFE}"/>
              </a:ext>
            </a:extLst>
          </p:cNvPr>
          <p:cNvSpPr txBox="1"/>
          <p:nvPr/>
        </p:nvSpPr>
        <p:spPr>
          <a:xfrm>
            <a:off x="9048922" y="632254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fine-tuning</a:t>
            </a:r>
          </a:p>
        </p:txBody>
      </p:sp>
    </p:spTree>
    <p:extLst>
      <p:ext uri="{BB962C8B-B14F-4D97-AF65-F5344CB8AC3E}">
        <p14:creationId xmlns:p14="http://schemas.microsoft.com/office/powerpoint/2010/main" val="313366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A0AB-0F9D-1DE4-CA30-F04C2A63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507" y="365126"/>
            <a:ext cx="4370293" cy="616510"/>
          </a:xfrm>
        </p:spPr>
        <p:txBody>
          <a:bodyPr>
            <a:normAutofit fontScale="90000"/>
          </a:bodyPr>
          <a:lstStyle/>
          <a:p>
            <a:r>
              <a:rPr lang="en-US" dirty="0"/>
              <a:t>MS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B09A3-B4B1-3C3D-425D-0773625CD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7" y="596154"/>
            <a:ext cx="6261846" cy="62618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1D163D-4432-7B90-C657-385B5FCBB91D}"/>
              </a:ext>
            </a:extLst>
          </p:cNvPr>
          <p:cNvSpPr/>
          <p:nvPr/>
        </p:nvSpPr>
        <p:spPr>
          <a:xfrm>
            <a:off x="4625789" y="673381"/>
            <a:ext cx="228600" cy="60108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26E95-0739-68C2-9D22-2318CEE4AA1C}"/>
              </a:ext>
            </a:extLst>
          </p:cNvPr>
          <p:cNvSpPr txBox="1"/>
          <p:nvPr/>
        </p:nvSpPr>
        <p:spPr>
          <a:xfrm>
            <a:off x="7247968" y="2622176"/>
            <a:ext cx="4370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Celltypes</a:t>
            </a:r>
            <a:r>
              <a:rPr lang="en-US" dirty="0"/>
              <a:t> that do not get good predictions: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Oligodendrocyte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Phagocyte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excitatory neuron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Microglial cell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4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5333-A330-DEB7-AB71-F93F8F6E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A2EA-3902-4ABD-AD61-5B685B8B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310311"/>
            <a:ext cx="7968904" cy="616510"/>
          </a:xfrm>
        </p:spPr>
        <p:txBody>
          <a:bodyPr>
            <a:normAutofit fontScale="90000"/>
          </a:bodyPr>
          <a:lstStyle/>
          <a:p>
            <a:r>
              <a:rPr lang="en-US" dirty="0"/>
              <a:t>MS Dataset – train &amp; test split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565F4B-3CCE-A445-27B4-960077E8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57" y="2268443"/>
            <a:ext cx="7968904" cy="39709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46336A-C8EE-3A6C-3762-45227C514FD4}"/>
              </a:ext>
            </a:extLst>
          </p:cNvPr>
          <p:cNvSpPr/>
          <p:nvPr/>
        </p:nvSpPr>
        <p:spPr>
          <a:xfrm rot="19013583" flipH="1">
            <a:off x="9565592" y="5004164"/>
            <a:ext cx="956391" cy="15548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AE246-CAD9-BC5F-F42C-B4AC9D86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06" y="3560780"/>
            <a:ext cx="3810000" cy="271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785D4A-54A9-7372-F29B-D53B72050CBE}"/>
              </a:ext>
            </a:extLst>
          </p:cNvPr>
          <p:cNvSpPr txBox="1"/>
          <p:nvPr/>
        </p:nvSpPr>
        <p:spPr>
          <a:xfrm>
            <a:off x="565121" y="2591446"/>
            <a:ext cx="338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Trained on batch 0 (7844 cells)</a:t>
            </a:r>
          </a:p>
          <a:p>
            <a:r>
              <a:rPr lang="en-US" dirty="0"/>
              <a:t>Tested on batch 1 (13468 cells)</a:t>
            </a:r>
          </a:p>
        </p:txBody>
      </p:sp>
    </p:spTree>
    <p:extLst>
      <p:ext uri="{BB962C8B-B14F-4D97-AF65-F5344CB8AC3E}">
        <p14:creationId xmlns:p14="http://schemas.microsoft.com/office/powerpoint/2010/main" val="172112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AC4D66-D3C8-E5C6-E786-39427D6F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FF7D-3D0B-8FD9-42D6-BFE6B79F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310311"/>
            <a:ext cx="10470776" cy="616510"/>
          </a:xfrm>
        </p:spPr>
        <p:txBody>
          <a:bodyPr>
            <a:normAutofit fontScale="90000"/>
          </a:bodyPr>
          <a:lstStyle/>
          <a:p>
            <a:r>
              <a:rPr lang="en-US" dirty="0"/>
              <a:t>MS Dataset – train &amp; valid split (during training)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46588-40AC-C68E-F115-BC27ACADE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17" y="1162467"/>
            <a:ext cx="10806953" cy="538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7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E13753-FB32-F18A-397A-8D6BB345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5" y="392116"/>
            <a:ext cx="6254905" cy="607376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ECC8D30-B68D-A6EE-F42C-7E8A17B0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507" y="365126"/>
            <a:ext cx="4370293" cy="616510"/>
          </a:xfrm>
        </p:spPr>
        <p:txBody>
          <a:bodyPr>
            <a:normAutofit fontScale="90000"/>
          </a:bodyPr>
          <a:lstStyle/>
          <a:p>
            <a:r>
              <a:rPr lang="en-US" dirty="0"/>
              <a:t>PBMC3k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5EE49-C48F-099D-56AE-0A458D13A98D}"/>
              </a:ext>
            </a:extLst>
          </p:cNvPr>
          <p:cNvSpPr txBox="1"/>
          <p:nvPr/>
        </p:nvSpPr>
        <p:spPr>
          <a:xfrm>
            <a:off x="1639593" y="646588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fine-tuning</a:t>
            </a:r>
          </a:p>
        </p:txBody>
      </p:sp>
    </p:spTree>
    <p:extLst>
      <p:ext uri="{BB962C8B-B14F-4D97-AF65-F5344CB8AC3E}">
        <p14:creationId xmlns:p14="http://schemas.microsoft.com/office/powerpoint/2010/main" val="397657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53DBF1-F6B7-15F9-67E2-AEC30C3D3525}"/>
              </a:ext>
            </a:extLst>
          </p:cNvPr>
          <p:cNvSpPr txBox="1">
            <a:spLocks/>
          </p:cNvSpPr>
          <p:nvPr/>
        </p:nvSpPr>
        <p:spPr>
          <a:xfrm>
            <a:off x="354106" y="310311"/>
            <a:ext cx="7968904" cy="6165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MS Dataset – train &amp; test split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864F8-A882-8FDB-EB1A-3A45ECE2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6" y="1755355"/>
            <a:ext cx="6739965" cy="3347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80C76E-3897-BEA0-C2DB-B22F355B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05" y="1453310"/>
            <a:ext cx="4901265" cy="3496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047CAC-4092-86E2-3473-55FBDF54603D}"/>
              </a:ext>
            </a:extLst>
          </p:cNvPr>
          <p:cNvSpPr txBox="1"/>
          <p:nvPr/>
        </p:nvSpPr>
        <p:spPr>
          <a:xfrm>
            <a:off x="9763779" y="5476035"/>
            <a:ext cx="2226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Total: 2638 cells</a:t>
            </a:r>
          </a:p>
          <a:p>
            <a:pPr marL="285750" indent="-285750">
              <a:buFontTx/>
              <a:buChar char="-"/>
            </a:pPr>
            <a:r>
              <a:rPr lang="en-US" dirty="0"/>
              <a:t>train (0): 791 cells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(1): 1847 cells</a:t>
            </a:r>
          </a:p>
        </p:txBody>
      </p:sp>
    </p:spTree>
    <p:extLst>
      <p:ext uri="{BB962C8B-B14F-4D97-AF65-F5344CB8AC3E}">
        <p14:creationId xmlns:p14="http://schemas.microsoft.com/office/powerpoint/2010/main" val="2466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6A034F-8BEA-A740-4331-522DFB76AC75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DB01C-C14E-E504-6C6D-564264E9C382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75EC8-C7CA-0C27-3444-F51DAA5ACA42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03A002-7F71-EF83-C542-1EA9C675EFD3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7D15-1505-CE7A-EC87-6C3F2A6A95E0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69221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2EF0-5B9D-0C5A-5D93-5BE02BC1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A07FF2C-8DF5-CDE7-6078-59C7A5D3F857}"/>
              </a:ext>
            </a:extLst>
          </p:cNvPr>
          <p:cNvSpPr/>
          <p:nvPr/>
        </p:nvSpPr>
        <p:spPr>
          <a:xfrm>
            <a:off x="3935936" y="259265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hyper-parameter setup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95475-848B-35D4-8387-0916D7EC84CE}"/>
              </a:ext>
            </a:extLst>
          </p:cNvPr>
          <p:cNvSpPr/>
          <p:nvPr/>
        </p:nvSpPr>
        <p:spPr>
          <a:xfrm>
            <a:off x="3935935" y="2496479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model configurations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3B603B-6046-435D-A00E-E4D2FA695659}"/>
              </a:ext>
            </a:extLst>
          </p:cNvPr>
          <p:cNvSpPr/>
          <p:nvPr/>
        </p:nvSpPr>
        <p:spPr>
          <a:xfrm>
            <a:off x="3935934" y="4963505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In-script parameters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005D81-F7D4-7272-9C9A-EB0381482629}"/>
              </a:ext>
            </a:extLst>
          </p:cNvPr>
          <p:cNvSpPr txBox="1"/>
          <p:nvPr/>
        </p:nvSpPr>
        <p:spPr>
          <a:xfrm>
            <a:off x="6808700" y="2496479"/>
            <a:ext cx="5171424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Gene Vocabulary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Pre-trained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1"/>
              <a:t>TransformerEncoder : nlayers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1"/>
              <a:t>TransformerEncoderLayer 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noProof="1"/>
              <a:t>embsize / d_model, nhead, d_hid / dim_feedforward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AAC18-4F34-C4C6-DDEC-E3FF09BEFC60}"/>
              </a:ext>
            </a:extLst>
          </p:cNvPr>
          <p:cNvSpPr txBox="1"/>
          <p:nvPr/>
        </p:nvSpPr>
        <p:spPr>
          <a:xfrm>
            <a:off x="6808700" y="278081"/>
            <a:ext cx="517142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input and preprocessing: </a:t>
            </a:r>
            <a:r>
              <a:rPr lang="en-US" dirty="0" err="1"/>
              <a:t>n_bins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optimizer: </a:t>
            </a:r>
            <a:r>
              <a:rPr lang="en-US" dirty="0" err="1"/>
              <a:t>batch_size</a:t>
            </a:r>
            <a:r>
              <a:rPr lang="en-US" dirty="0"/>
              <a:t>, epochs,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model: </a:t>
            </a:r>
            <a:r>
              <a:rPr lang="en-US" dirty="0" err="1"/>
              <a:t>layer_size</a:t>
            </a:r>
            <a:r>
              <a:rPr lang="en-US" dirty="0"/>
              <a:t>, </a:t>
            </a:r>
            <a:r>
              <a:rPr lang="en-US" dirty="0" err="1"/>
              <a:t>nlayers</a:t>
            </a:r>
            <a:r>
              <a:rPr lang="en-US" dirty="0"/>
              <a:t>, dropout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training: MVC,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6F70B-C27A-4D9A-7078-131813E3333A}"/>
              </a:ext>
            </a:extLst>
          </p:cNvPr>
          <p:cNvSpPr txBox="1"/>
          <p:nvPr/>
        </p:nvSpPr>
        <p:spPr>
          <a:xfrm>
            <a:off x="6808700" y="4963505"/>
            <a:ext cx="517142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input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1F4D0E-1E70-E160-8A60-13E771C69B7A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9846FA-5903-2697-22D3-D4073EC6CB65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1E5BB1-2D08-54C8-32DE-567D052440B5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D8E415-5F52-5EFD-AD65-7B7B9CD1F475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30E808-AC62-9772-3756-9124D6F0DE98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1A225-96FB-A8A1-BD78-2DA1F5326AE9}"/>
              </a:ext>
            </a:extLst>
          </p:cNvPr>
          <p:cNvSpPr/>
          <p:nvPr/>
        </p:nvSpPr>
        <p:spPr>
          <a:xfrm>
            <a:off x="211875" y="1448122"/>
            <a:ext cx="3010829" cy="5359145"/>
          </a:xfrm>
          <a:prstGeom prst="rect">
            <a:avLst/>
          </a:prstGeom>
          <a:solidFill>
            <a:schemeClr val="bg1">
              <a:alpha val="702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49577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2E78-47B7-7CEA-2821-ADBA77C6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547DAC-B23A-3538-8000-9C39B66A3F1F}"/>
              </a:ext>
            </a:extLst>
          </p:cNvPr>
          <p:cNvSpPr/>
          <p:nvPr/>
        </p:nvSpPr>
        <p:spPr>
          <a:xfrm>
            <a:off x="4020835" y="3429000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DC723D-C4B5-E6C6-1E02-0AA0583CCAD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834382" y="4124968"/>
            <a:ext cx="0" cy="145433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20EB5-7AE3-D2A3-4455-505915728C48}"/>
              </a:ext>
            </a:extLst>
          </p:cNvPr>
          <p:cNvSpPr/>
          <p:nvPr/>
        </p:nvSpPr>
        <p:spPr>
          <a:xfrm>
            <a:off x="3496235" y="4370707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Preprocessor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533AB1-0726-CDCE-E3FF-6909558F3184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flipH="1">
            <a:off x="6172528" y="4796417"/>
            <a:ext cx="1510389" cy="9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996FDE-301F-0AF7-C338-6695873E2E89}"/>
              </a:ext>
            </a:extLst>
          </p:cNvPr>
          <p:cNvSpPr txBox="1"/>
          <p:nvPr/>
        </p:nvSpPr>
        <p:spPr>
          <a:xfrm>
            <a:off x="8821279" y="3868172"/>
            <a:ext cx="315884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/>
              <a:t>filter_gene_by_counts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/>
              <a:t>filter_cell_by_counts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FF0000"/>
                </a:solidFill>
              </a:rPr>
              <a:t>normalize_total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FF0000"/>
                </a:solidFill>
              </a:rPr>
              <a:t>Log1p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/>
              <a:t>hvg_flavor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1"/>
              <a:t>subset_hvg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8D38FF-6ABB-D038-B7F5-B37DE6AA9D27}"/>
              </a:ext>
            </a:extLst>
          </p:cNvPr>
          <p:cNvSpPr/>
          <p:nvPr/>
        </p:nvSpPr>
        <p:spPr>
          <a:xfrm>
            <a:off x="7682917" y="4448433"/>
            <a:ext cx="1393848" cy="6959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config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B252E6-DDFE-077C-5ACB-3AC2D86D5B7C}"/>
              </a:ext>
            </a:extLst>
          </p:cNvPr>
          <p:cNvSpPr/>
          <p:nvPr/>
        </p:nvSpPr>
        <p:spPr>
          <a:xfrm>
            <a:off x="4020834" y="582733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 file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798FDE-CA3B-AEA2-0C13-B69CFCDE9ECE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834381" y="1278701"/>
            <a:ext cx="1" cy="21502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62A85D3-E7AD-9EF5-F06B-3984F19FC25C}"/>
              </a:ext>
            </a:extLst>
          </p:cNvPr>
          <p:cNvSpPr txBox="1"/>
          <p:nvPr/>
        </p:nvSpPr>
        <p:spPr>
          <a:xfrm>
            <a:off x="5012807" y="1378837"/>
            <a:ext cx="4519058" cy="17113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data raw? → </a:t>
            </a:r>
            <a:r>
              <a:rPr lang="en-US" dirty="0">
                <a:solidFill>
                  <a:srgbClr val="FF0000"/>
                </a:solidFill>
              </a:rPr>
              <a:t>Normalization</a:t>
            </a:r>
            <a:r>
              <a:rPr lang="en-US" dirty="0"/>
              <a:t> necessary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 names as index!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Are the genes part of the gene vocabulary?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Batch ids (train vs test)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CF3AA3-4B86-FA97-1473-AF55202B3866}"/>
              </a:ext>
            </a:extLst>
          </p:cNvPr>
          <p:cNvSpPr/>
          <p:nvPr/>
        </p:nvSpPr>
        <p:spPr>
          <a:xfrm>
            <a:off x="4020835" y="5579299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</a:t>
            </a:r>
          </a:p>
          <a:p>
            <a:pPr algn="ctr"/>
            <a:r>
              <a:rPr lang="en-US" sz="1600" noProof="1"/>
              <a:t>+ new metadata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B926F2-E97A-EF56-881A-4BABB9580EF2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F1A3F4-0FDA-F7C5-782F-93C7DC34BD22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76B9EC-7435-7993-515C-BB7E416C22D8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491E16-6CE9-0865-C2D8-3B115106D0FC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93591E-B750-80A7-92BD-AC940AAD5593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F415D-DDB9-8DBB-6851-24982C03F3FF}"/>
              </a:ext>
            </a:extLst>
          </p:cNvPr>
          <p:cNvSpPr/>
          <p:nvPr/>
        </p:nvSpPr>
        <p:spPr>
          <a:xfrm>
            <a:off x="200714" y="2733031"/>
            <a:ext cx="3010829" cy="402460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5DCD29-44A5-859C-4838-55239FC385D7}"/>
              </a:ext>
            </a:extLst>
          </p:cNvPr>
          <p:cNvSpPr/>
          <p:nvPr/>
        </p:nvSpPr>
        <p:spPr>
          <a:xfrm>
            <a:off x="259743" y="100361"/>
            <a:ext cx="3010829" cy="124893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65159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99AF-D45E-9CB6-322A-14920C2D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BF7626-0934-EFC6-32BA-B8A4595E28ED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DA159-234B-BFAE-20E5-86D2313FED51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94F0C-A588-60F4-B57D-D40717F8ACAA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F58BFF-3B5E-C65D-6226-45280B34F4B5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A7328-F1DB-6E73-DB20-E7AB96F0734B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82C9C-86A0-0A33-738C-3F560CCC9D24}"/>
              </a:ext>
            </a:extLst>
          </p:cNvPr>
          <p:cNvSpPr/>
          <p:nvPr/>
        </p:nvSpPr>
        <p:spPr>
          <a:xfrm>
            <a:off x="211873" y="100361"/>
            <a:ext cx="3010829" cy="124893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FA5F6-140F-EEB4-C775-B806B47B745B}"/>
              </a:ext>
            </a:extLst>
          </p:cNvPr>
          <p:cNvSpPr/>
          <p:nvPr/>
        </p:nvSpPr>
        <p:spPr>
          <a:xfrm>
            <a:off x="211873" y="2733032"/>
            <a:ext cx="3010829" cy="402460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669DE-BD35-D573-4727-9930857134AD}"/>
              </a:ext>
            </a:extLst>
          </p:cNvPr>
          <p:cNvSpPr/>
          <p:nvPr/>
        </p:nvSpPr>
        <p:spPr>
          <a:xfrm>
            <a:off x="4020835" y="3429000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1D6808-B9DB-FFA3-855E-A914BC27E6F1}"/>
              </a:ext>
            </a:extLst>
          </p:cNvPr>
          <p:cNvSpPr/>
          <p:nvPr/>
        </p:nvSpPr>
        <p:spPr>
          <a:xfrm>
            <a:off x="4020835" y="5579299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</a:t>
            </a:r>
          </a:p>
          <a:p>
            <a:pPr algn="ctr"/>
            <a:r>
              <a:rPr lang="en-US" sz="1600" noProof="1"/>
              <a:t>+ new metadata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C42E08-6D5F-BCCF-5B36-665F94637E36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834382" y="4124968"/>
            <a:ext cx="0" cy="145433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46AAB38-E347-2A96-9AB7-0EF7E193E860}"/>
              </a:ext>
            </a:extLst>
          </p:cNvPr>
          <p:cNvSpPr/>
          <p:nvPr/>
        </p:nvSpPr>
        <p:spPr>
          <a:xfrm>
            <a:off x="3496235" y="4370707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Preprocessor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4751A6-6156-CB72-FF3D-1C2C4446265A}"/>
              </a:ext>
            </a:extLst>
          </p:cNvPr>
          <p:cNvSpPr/>
          <p:nvPr/>
        </p:nvSpPr>
        <p:spPr>
          <a:xfrm>
            <a:off x="4020834" y="582733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adata file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AEC532-088D-8D89-1379-59D8CDE168F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834381" y="1278701"/>
            <a:ext cx="1" cy="21502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F9C39C4-5923-69D7-C695-D92CD2BACF73}"/>
              </a:ext>
            </a:extLst>
          </p:cNvPr>
          <p:cNvSpPr txBox="1"/>
          <p:nvPr/>
        </p:nvSpPr>
        <p:spPr>
          <a:xfrm>
            <a:off x="5012807" y="1378837"/>
            <a:ext cx="4519058" cy="17113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data raw? → </a:t>
            </a:r>
            <a:r>
              <a:rPr lang="en-US" dirty="0">
                <a:solidFill>
                  <a:srgbClr val="FF0000"/>
                </a:solidFill>
              </a:rPr>
              <a:t>Normalization</a:t>
            </a:r>
            <a:r>
              <a:rPr lang="en-US" dirty="0"/>
              <a:t> necessary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 names as index!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Are the genes part of the gene vocabulary?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Batch ids (train vs test)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10744-0D39-0EB8-52B0-42A23D4A3F4D}"/>
              </a:ext>
            </a:extLst>
          </p:cNvPr>
          <p:cNvSpPr/>
          <p:nvPr/>
        </p:nvSpPr>
        <p:spPr>
          <a:xfrm>
            <a:off x="6336385" y="3545514"/>
            <a:ext cx="4823515" cy="272975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data into training, valid and test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 steps: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Filter genes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Filter cells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Normalize total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Log1p transformation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Subset </a:t>
            </a:r>
            <a:r>
              <a:rPr lang="en-US" dirty="0" err="1"/>
              <a:t>hvg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binning</a:t>
            </a:r>
          </a:p>
        </p:txBody>
      </p:sp>
    </p:spTree>
    <p:extLst>
      <p:ext uri="{BB962C8B-B14F-4D97-AF65-F5344CB8AC3E}">
        <p14:creationId xmlns:p14="http://schemas.microsoft.com/office/powerpoint/2010/main" val="15574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9DA7-280C-3FD1-DDC3-1B139F49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208F04-BE8C-55A7-396F-94B620CC1F4D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B14A1-6BED-6A2E-4E41-463851F94337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F8B9C-15AF-FCB9-F79D-30AFB13839FF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CF75CE-EDEC-83D0-B3C6-E92DF80A3DB7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0C3E5-4068-49D8-151D-91FE6F13E694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E09CF3-F98B-FAA1-C59C-AE19DFD445CE}"/>
              </a:ext>
            </a:extLst>
          </p:cNvPr>
          <p:cNvSpPr/>
          <p:nvPr/>
        </p:nvSpPr>
        <p:spPr>
          <a:xfrm>
            <a:off x="211873" y="4141283"/>
            <a:ext cx="3010829" cy="261635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265BB-831C-CCCC-E8CB-4B84C179317D}"/>
              </a:ext>
            </a:extLst>
          </p:cNvPr>
          <p:cNvSpPr/>
          <p:nvPr/>
        </p:nvSpPr>
        <p:spPr>
          <a:xfrm>
            <a:off x="211873" y="100361"/>
            <a:ext cx="3010829" cy="26163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167E47-C8B8-3F58-A719-7C9E507DCA9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172528" y="4796417"/>
            <a:ext cx="1510389" cy="9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6E45403-164D-CFDD-9B2A-A69855E16006}"/>
              </a:ext>
            </a:extLst>
          </p:cNvPr>
          <p:cNvSpPr/>
          <p:nvPr/>
        </p:nvSpPr>
        <p:spPr>
          <a:xfrm>
            <a:off x="4020834" y="582733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model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AE68F-BC77-06D8-1A9A-BADC327894FE}"/>
              </a:ext>
            </a:extLst>
          </p:cNvPr>
          <p:cNvSpPr txBox="1"/>
          <p:nvPr/>
        </p:nvSpPr>
        <p:spPr>
          <a:xfrm>
            <a:off x="5012805" y="128788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noProof="1">
                <a:solidFill>
                  <a:schemeClr val="tx1"/>
                </a:solidFill>
                <a:effectLst/>
                <a:latin typeface="+mn-lt"/>
              </a:rPr>
              <a:t>map_location = CPU !</a:t>
            </a:r>
            <a:endParaRPr lang="en-US" sz="900" b="0" noProof="1">
              <a:solidFill>
                <a:srgbClr val="BBBE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6BBF24-950B-639C-CAAB-7A7C9BD34845}"/>
              </a:ext>
            </a:extLst>
          </p:cNvPr>
          <p:cNvSpPr/>
          <p:nvPr/>
        </p:nvSpPr>
        <p:spPr>
          <a:xfrm>
            <a:off x="4020834" y="5547731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E209B5-DC0C-3B74-9B21-DE4BBADFED6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834381" y="1278701"/>
            <a:ext cx="1" cy="430059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4A01026-D1B8-6C6F-3A0A-6404F58612CD}"/>
              </a:ext>
            </a:extLst>
          </p:cNvPr>
          <p:cNvSpPr/>
          <p:nvPr/>
        </p:nvSpPr>
        <p:spPr>
          <a:xfrm>
            <a:off x="3496235" y="4361519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TransformerModel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2A7FA5-AD56-FB2A-B7A0-8741A31EB507}"/>
              </a:ext>
            </a:extLst>
          </p:cNvPr>
          <p:cNvSpPr/>
          <p:nvPr/>
        </p:nvSpPr>
        <p:spPr>
          <a:xfrm>
            <a:off x="4020834" y="1713597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state dict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477DB0-5A26-FF18-699A-44FC4EAB8781}"/>
              </a:ext>
            </a:extLst>
          </p:cNvPr>
          <p:cNvSpPr txBox="1"/>
          <p:nvPr/>
        </p:nvSpPr>
        <p:spPr>
          <a:xfrm>
            <a:off x="9049871" y="3863897"/>
            <a:ext cx="295906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GeneEncoder: ntoken, embsize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TransformerEncode: embsize, nheads, d_hid, nlayers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311CD-E760-0BC9-AE37-B8A0C319560D}"/>
              </a:ext>
            </a:extLst>
          </p:cNvPr>
          <p:cNvSpPr/>
          <p:nvPr/>
        </p:nvSpPr>
        <p:spPr>
          <a:xfrm>
            <a:off x="7682917" y="4448433"/>
            <a:ext cx="1393848" cy="6959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config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5AD210-F269-546D-CF38-1820A01F2722}"/>
              </a:ext>
            </a:extLst>
          </p:cNvPr>
          <p:cNvSpPr/>
          <p:nvPr/>
        </p:nvSpPr>
        <p:spPr>
          <a:xfrm>
            <a:off x="8969300" y="259674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scGPT_human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49BCE-EF5F-7113-8E2A-B3EA22C38C32}"/>
              </a:ext>
            </a:extLst>
          </p:cNvPr>
          <p:cNvSpPr/>
          <p:nvPr/>
        </p:nvSpPr>
        <p:spPr>
          <a:xfrm>
            <a:off x="8969299" y="1191786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scGPT_human </a:t>
            </a:r>
          </a:p>
          <a:p>
            <a:pPr algn="ctr"/>
            <a:r>
              <a:rPr lang="en-US" noProof="1"/>
              <a:t>already fine-tuned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F58A95-B2AA-0A4A-065D-2F31E1DC0C98}"/>
              </a:ext>
            </a:extLst>
          </p:cNvPr>
          <p:cNvCxnSpPr>
            <a:cxnSpLocks/>
            <a:stCxn id="20" idx="1"/>
            <a:endCxn id="12" idx="3"/>
          </p:cNvCxnSpPr>
          <p:nvPr/>
        </p:nvCxnSpPr>
        <p:spPr>
          <a:xfrm flipH="1">
            <a:off x="5647928" y="694572"/>
            <a:ext cx="3321372" cy="2361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F2B56C-F28C-B52B-174D-95BF3F697C81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647928" y="930717"/>
            <a:ext cx="3321371" cy="69596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4AD4A4-2A73-A702-B990-9E66BFF0FADD}"/>
              </a:ext>
            </a:extLst>
          </p:cNvPr>
          <p:cNvSpPr txBox="1"/>
          <p:nvPr/>
        </p:nvSpPr>
        <p:spPr>
          <a:xfrm>
            <a:off x="6387354" y="6252882"/>
            <a:ext cx="562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 Some configurations absolutely have to fit the model file</a:t>
            </a:r>
          </a:p>
        </p:txBody>
      </p:sp>
    </p:spTree>
    <p:extLst>
      <p:ext uri="{BB962C8B-B14F-4D97-AF65-F5344CB8AC3E}">
        <p14:creationId xmlns:p14="http://schemas.microsoft.com/office/powerpoint/2010/main" val="188056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B6356-261A-E030-25A3-57648A12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EBFD9B-7086-6B81-6FFD-1B44AF3198E7}"/>
              </a:ext>
            </a:extLst>
          </p:cNvPr>
          <p:cNvSpPr/>
          <p:nvPr/>
        </p:nvSpPr>
        <p:spPr>
          <a:xfrm>
            <a:off x="367983" y="259266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F00187-D890-4C9D-B621-A74D03FFF51E}"/>
              </a:ext>
            </a:extLst>
          </p:cNvPr>
          <p:cNvSpPr/>
          <p:nvPr/>
        </p:nvSpPr>
        <p:spPr>
          <a:xfrm>
            <a:off x="367983" y="1626684"/>
            <a:ext cx="2676293" cy="8697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&amp; pre-process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09D7CA-B06D-4D88-1810-B6700382B066}"/>
              </a:ext>
            </a:extLst>
          </p:cNvPr>
          <p:cNvSpPr/>
          <p:nvPr/>
        </p:nvSpPr>
        <p:spPr>
          <a:xfrm>
            <a:off x="367985" y="2994102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Load Pre-trained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02CAD-6E51-F42D-A2AC-8D4201D035F8}"/>
              </a:ext>
            </a:extLst>
          </p:cNvPr>
          <p:cNvSpPr/>
          <p:nvPr/>
        </p:nvSpPr>
        <p:spPr>
          <a:xfrm>
            <a:off x="367984" y="4361520"/>
            <a:ext cx="2676293" cy="869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Finetune scGPT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DA8D8-A71D-CFCD-36BA-2CFBD551A28C}"/>
              </a:ext>
            </a:extLst>
          </p:cNvPr>
          <p:cNvSpPr/>
          <p:nvPr/>
        </p:nvSpPr>
        <p:spPr>
          <a:xfrm>
            <a:off x="367986" y="5728938"/>
            <a:ext cx="2676293" cy="86979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0B21D9-AC2B-3231-AEAA-66412E8034B4}"/>
              </a:ext>
            </a:extLst>
          </p:cNvPr>
          <p:cNvSpPr/>
          <p:nvPr/>
        </p:nvSpPr>
        <p:spPr>
          <a:xfrm>
            <a:off x="211873" y="4141283"/>
            <a:ext cx="3010829" cy="261635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D4E86-60EF-2FD4-A1DB-8FC508CA6D78}"/>
              </a:ext>
            </a:extLst>
          </p:cNvPr>
          <p:cNvSpPr/>
          <p:nvPr/>
        </p:nvSpPr>
        <p:spPr>
          <a:xfrm>
            <a:off x="211873" y="100361"/>
            <a:ext cx="3010829" cy="26163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158439-6FB0-18CE-8C5B-6734946B9C00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143721" y="3649236"/>
            <a:ext cx="1510389" cy="9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53B23-8456-C118-8778-340F8F76317C}"/>
              </a:ext>
            </a:extLst>
          </p:cNvPr>
          <p:cNvSpPr/>
          <p:nvPr/>
        </p:nvSpPr>
        <p:spPr>
          <a:xfrm>
            <a:off x="4020834" y="582733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model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754D4-1F8B-0173-68C4-5496592B3E99}"/>
              </a:ext>
            </a:extLst>
          </p:cNvPr>
          <p:cNvSpPr txBox="1"/>
          <p:nvPr/>
        </p:nvSpPr>
        <p:spPr>
          <a:xfrm>
            <a:off x="5012805" y="128788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noProof="1">
                <a:solidFill>
                  <a:schemeClr val="tx1"/>
                </a:solidFill>
                <a:effectLst/>
                <a:latin typeface="+mn-lt"/>
              </a:rPr>
              <a:t>map_location = CPU !</a:t>
            </a:r>
            <a:endParaRPr lang="en-US" sz="900" b="0" noProof="1">
              <a:solidFill>
                <a:srgbClr val="BBBEBF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929341-228C-C338-0FEE-5E2168C7E51B}"/>
              </a:ext>
            </a:extLst>
          </p:cNvPr>
          <p:cNvSpPr/>
          <p:nvPr/>
        </p:nvSpPr>
        <p:spPr>
          <a:xfrm>
            <a:off x="3992027" y="4400550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4200B5-ACB7-248F-3905-D07BF940C4FF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4805574" y="1278701"/>
            <a:ext cx="28807" cy="312184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2B0D85A-AC8F-68E1-6305-428666143B31}"/>
              </a:ext>
            </a:extLst>
          </p:cNvPr>
          <p:cNvSpPr/>
          <p:nvPr/>
        </p:nvSpPr>
        <p:spPr>
          <a:xfrm>
            <a:off x="3467428" y="3214338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TransformerModel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05DB0-6130-9736-59A5-17FC8B74E1B3}"/>
              </a:ext>
            </a:extLst>
          </p:cNvPr>
          <p:cNvSpPr/>
          <p:nvPr/>
        </p:nvSpPr>
        <p:spPr>
          <a:xfrm>
            <a:off x="4020834" y="1713597"/>
            <a:ext cx="1627094" cy="69596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/>
              <a:t>state dict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5A52CC-EA5D-F3D8-81FD-F963BE01CF86}"/>
              </a:ext>
            </a:extLst>
          </p:cNvPr>
          <p:cNvSpPr txBox="1"/>
          <p:nvPr/>
        </p:nvSpPr>
        <p:spPr>
          <a:xfrm>
            <a:off x="9021064" y="2716716"/>
            <a:ext cx="295906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GeneEncoder: ntoken, embsize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TransformerEncode: embsize, nheads, d_hid, nlayers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CE77F-B47F-1846-361C-EF7D74520F7B}"/>
              </a:ext>
            </a:extLst>
          </p:cNvPr>
          <p:cNvSpPr/>
          <p:nvPr/>
        </p:nvSpPr>
        <p:spPr>
          <a:xfrm>
            <a:off x="7654110" y="3301252"/>
            <a:ext cx="1393848" cy="6959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config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43D150-2397-35C3-FE89-03D00E5DF79A}"/>
              </a:ext>
            </a:extLst>
          </p:cNvPr>
          <p:cNvSpPr/>
          <p:nvPr/>
        </p:nvSpPr>
        <p:spPr>
          <a:xfrm>
            <a:off x="8969300" y="259674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scGPT_human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0904B9-9406-0DDE-9593-8F17ADEAF37E}"/>
              </a:ext>
            </a:extLst>
          </p:cNvPr>
          <p:cNvSpPr/>
          <p:nvPr/>
        </p:nvSpPr>
        <p:spPr>
          <a:xfrm>
            <a:off x="8969299" y="1191786"/>
            <a:ext cx="2676293" cy="8697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scGPT_human </a:t>
            </a:r>
          </a:p>
          <a:p>
            <a:pPr algn="ctr"/>
            <a:r>
              <a:rPr lang="en-US" noProof="1"/>
              <a:t>already fine-tuned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470004-A2AC-1402-0D43-C51CFC5C34F0}"/>
              </a:ext>
            </a:extLst>
          </p:cNvPr>
          <p:cNvCxnSpPr>
            <a:cxnSpLocks/>
            <a:stCxn id="20" idx="1"/>
            <a:endCxn id="12" idx="3"/>
          </p:cNvCxnSpPr>
          <p:nvPr/>
        </p:nvCxnSpPr>
        <p:spPr>
          <a:xfrm flipH="1">
            <a:off x="5647928" y="694572"/>
            <a:ext cx="3321372" cy="23614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4783D3-F941-1761-D823-6EAACD85251C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5647928" y="930717"/>
            <a:ext cx="3321371" cy="69596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3C4F44-8EB1-D687-B573-B933D1F2DFD0}"/>
              </a:ext>
            </a:extLst>
          </p:cNvPr>
          <p:cNvSpPr txBox="1"/>
          <p:nvPr/>
        </p:nvSpPr>
        <p:spPr>
          <a:xfrm>
            <a:off x="6572881" y="4563868"/>
            <a:ext cx="562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! Some configurations absolutely have to fit the model file</a:t>
            </a:r>
          </a:p>
        </p:txBody>
      </p:sp>
    </p:spTree>
    <p:extLst>
      <p:ext uri="{BB962C8B-B14F-4D97-AF65-F5344CB8AC3E}">
        <p14:creationId xmlns:p14="http://schemas.microsoft.com/office/powerpoint/2010/main" val="1792921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8ED8-D673-DD5C-6AA7-A0078831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287618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259C5-967B-2B25-501F-B5CEC93D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1305" y="1139704"/>
            <a:ext cx="3267636" cy="4578590"/>
          </a:xfrm>
        </p:spPr>
        <p:txBody>
          <a:bodyPr>
            <a:normAutofit/>
          </a:bodyPr>
          <a:lstStyle/>
          <a:p>
            <a:r>
              <a:rPr lang="en-US" dirty="0"/>
              <a:t>Mapping </a:t>
            </a:r>
            <a:r>
              <a:rPr lang="en-US" dirty="0" err="1"/>
              <a:t>unkown</a:t>
            </a:r>
            <a:r>
              <a:rPr lang="en-US" dirty="0"/>
              <a:t> cells in a query set to reference atlas</a:t>
            </a:r>
          </a:p>
          <a:p>
            <a:r>
              <a:rPr lang="en-US" dirty="0"/>
              <a:t>Reference: 33 million cells from </a:t>
            </a:r>
            <a:r>
              <a:rPr lang="en-US" dirty="0" err="1"/>
              <a:t>CellXGene</a:t>
            </a:r>
            <a:endParaRPr lang="en-US" dirty="0"/>
          </a:p>
          <a:p>
            <a:r>
              <a:rPr lang="en-US" sz="2000" dirty="0">
                <a:hlinkClick r:id="rId2"/>
              </a:rPr>
              <a:t>https://github.com/bowang-lab/scGPT/blob/main/tutorials/Tutorial_Reference_Mapping.ipynb</a:t>
            </a:r>
            <a:r>
              <a:rPr lang="en-US" sz="20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936FB-FDDD-9AF0-B807-831778F72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82" y="1233834"/>
            <a:ext cx="7772400" cy="457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6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30092</TotalTime>
  <Words>488</Words>
  <Application>Microsoft Macintosh PowerPoint</Application>
  <PresentationFormat>Widescreen</PresentationFormat>
  <Paragraphs>132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Menlo</vt:lpstr>
      <vt:lpstr>Office Theme</vt:lpstr>
      <vt:lpstr>Progress Report</vt:lpstr>
      <vt:lpstr>MS Dataset</vt:lpstr>
      <vt:lpstr>MS Dataset</vt:lpstr>
      <vt:lpstr>MS Dataset – train &amp; test split </vt:lpstr>
      <vt:lpstr>MS Dataset – train &amp; valid split (during training)</vt:lpstr>
      <vt:lpstr>PBMC3k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 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1</cp:revision>
  <dcterms:created xsi:type="dcterms:W3CDTF">2026-10-01T12:53:25Z</dcterms:created>
  <dcterms:modified xsi:type="dcterms:W3CDTF">2026-10-22T10:26:24Z</dcterms:modified>
</cp:coreProperties>
</file>