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0" r:id="rId3"/>
    <p:sldId id="263" r:id="rId4"/>
    <p:sldId id="262" r:id="rId5"/>
    <p:sldId id="264" r:id="rId6"/>
    <p:sldId id="265" r:id="rId7"/>
    <p:sldId id="266" r:id="rId8"/>
    <p:sldId id="257" r:id="rId9"/>
    <p:sldId id="258" r:id="rId10"/>
    <p:sldId id="267" r:id="rId11"/>
    <p:sldId id="268" r:id="rId12"/>
    <p:sldId id="2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9"/>
  </p:normalViewPr>
  <p:slideViewPr>
    <p:cSldViewPr snapToGrid="0">
      <p:cViewPr varScale="1">
        <p:scale>
          <a:sx n="114" d="100"/>
          <a:sy n="114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EFFA0F-BFED-904A-92BB-F8DF0BBF88DA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FD9FED-45D3-D14E-B900-5BAAFDCAB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13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D9FED-45D3-D14E-B900-5BAAFDCAB76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222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14BA4-8AE0-D8D6-209A-692D995E3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F5871D-6895-24B4-0C5C-31DDF1A821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CA87E-EF19-9597-4639-316404764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87E53-8327-4D4E-B6E0-7FFCE0837D21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2FE3E-1505-8379-F96C-7D7C22B5B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2BA22-75AC-872A-0553-87F50DAF9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266F-93FD-A240-984B-6353AB1A8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090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E9500-E200-1820-DA35-674F7A27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8CA46-9112-719D-944B-A88CCB9AD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FD277-5A83-E56D-DF62-E6D0BD93E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87E53-8327-4D4E-B6E0-7FFCE0837D21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F6718-7D91-DAAB-5976-9824611DF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86C27-9425-3AD5-500F-63AAC7176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266F-93FD-A240-984B-6353AB1A8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53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E26D6-5508-C9D6-D2EA-642C271D9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9DFD9-95B7-714D-27F5-33A8F2F7D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E5CC3-ACCC-0570-0863-9C1EE195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87E53-8327-4D4E-B6E0-7FFCE0837D21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04D84-565F-215E-9073-14BA744AE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6A5F1-82E6-7261-207E-65622EB3F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266F-93FD-A240-984B-6353AB1A8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467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BF56-7619-88AF-C4E1-04646C687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8E6D8-5B94-85F4-3480-C8D8F6C962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253AF8-73A8-4847-A25F-50B4DD8C18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3AC83-89D9-B8E5-BFD6-FF20407AF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87E53-8327-4D4E-B6E0-7FFCE0837D21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1B877-60B3-7E34-AB85-6CF80E00A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924B3-30BF-D48F-E75C-CA23B31A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266F-93FD-A240-984B-6353AB1A8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13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00E09-597C-CFB8-68D5-1C63385D5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9526A-F95C-9110-F532-E4853CECC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C197B-6FD9-DFFC-E871-BE16C3038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D17107-C04C-6D9B-5969-54F5918A4C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A40B22-CD42-0B69-78EC-A37BDD08F1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BF8FEB-1507-99D9-3DC0-B2C246A86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87E53-8327-4D4E-B6E0-7FFCE0837D21}" type="datetimeFigureOut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0D0168-2B5E-138B-7B75-D78E3C067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0E2E2C-9B86-DBFD-696D-4CA175DE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266F-93FD-A240-984B-6353AB1A8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40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D64E5-3AB7-327A-5D4D-19D8E39AC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81C4-F4FF-1E8F-228E-07C28F0CA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87E53-8327-4D4E-B6E0-7FFCE0837D21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C94A32-F051-454C-B9F6-DB05CD8F0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8F3A3F-BEA7-A5F3-EAB0-8B5C68901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266F-93FD-A240-984B-6353AB1A8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287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1DB964-24D4-FBEE-D613-F0557577C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87E53-8327-4D4E-B6E0-7FFCE0837D21}" type="datetimeFigureOut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9C0A53-EA5C-F973-9F62-BDAE0AF0B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2914F-266B-3227-1E95-12D029A67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266F-93FD-A240-984B-6353AB1A8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336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85DC9-4987-7AB7-6B4D-697CF26FA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EF071-2C3C-1BE8-1822-0C12FD808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33A135-F162-C010-3FD6-2F02A7ADC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9F3FF5-A8D0-555B-FDE7-7AD49BD5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87E53-8327-4D4E-B6E0-7FFCE0837D21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8A6849-243E-C435-B252-177652D75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D3436-899C-79C9-B6A8-EDDA4BA83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266F-93FD-A240-984B-6353AB1A8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16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9BBD2-111D-5E39-0CCD-67E758881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BC716C-FD5D-EBB0-B924-D7FA0EFDF0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5534D2-A7F8-1D10-946F-A2DB0DAD8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02CF92-2D41-AD92-61DC-B186E1C19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87E53-8327-4D4E-B6E0-7FFCE0837D21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7E99B-7D15-19F0-1541-BECD2B04B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F52F1-0F68-05D8-49A3-EC58F8764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266F-93FD-A240-984B-6353AB1A8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703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68AD5-DCD8-B855-4EDD-D31712226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FC4E1-6450-8593-A4AB-73C155517E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5FE8D-9017-D198-439B-C0173A718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87E53-8327-4D4E-B6E0-7FFCE0837D21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2B4AE-461F-F6CB-595A-3B612FFB8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0B2A3-AC91-FF5A-07BB-9AF77D638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266F-93FD-A240-984B-6353AB1A8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71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460643-AB06-F82B-01A1-F2E249F9F7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02EF7-8A1A-4E14-1E91-B755CBE33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D2889-AF88-97FD-69CE-610BC573D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87E53-8327-4D4E-B6E0-7FFCE0837D21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6A502-7C8F-CE8A-FFCC-3821B811A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13544-8F58-62BB-2F94-60BFD2A6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266F-93FD-A240-984B-6353AB1A8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93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231848-B702-3957-0DF9-61F86840A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708C7-C80C-777E-E6C9-BFC6ED61A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5D3B7-475A-E56A-E345-A741AADA1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87E53-8327-4D4E-B6E0-7FFCE0837D21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DCF84-B8CC-6124-87BA-3F3EC3752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13F60-1D99-2163-951A-1B9DB0FCFF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6266F-93FD-A240-984B-6353AB1A8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057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5140F-1B0F-AA8B-B388-1AF79785E4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Progress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F305BB-2B44-F714-7A91-14973B508D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18.09.2026</a:t>
            </a:r>
          </a:p>
        </p:txBody>
      </p:sp>
    </p:spTree>
    <p:extLst>
      <p:ext uri="{BB962C8B-B14F-4D97-AF65-F5344CB8AC3E}">
        <p14:creationId xmlns:p14="http://schemas.microsoft.com/office/powerpoint/2010/main" val="499526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02340-1640-5E93-656B-AD8F40BE3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Specify parameters</a:t>
            </a:r>
          </a:p>
          <a:p>
            <a:pPr marL="342900" indent="-342900">
              <a:buAutoNum type="arabicPeriod"/>
            </a:pPr>
            <a:r>
              <a:rPr lang="en-US" dirty="0"/>
              <a:t>Load and pre-process data</a:t>
            </a:r>
          </a:p>
          <a:p>
            <a:pPr marL="342900" indent="-342900">
              <a:buAutoNum type="arabicPeriod"/>
            </a:pPr>
            <a:r>
              <a:rPr lang="en-US" dirty="0"/>
              <a:t>Load pre-trained model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Finetune </a:t>
            </a:r>
            <a:r>
              <a:rPr lang="en-US" dirty="0" err="1"/>
              <a:t>scGPT</a:t>
            </a:r>
            <a:r>
              <a:rPr lang="en-US" dirty="0"/>
              <a:t> with task-specific objectives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Evaluate fine-tuned </a:t>
            </a:r>
            <a:r>
              <a:rPr lang="en-US" dirty="0" err="1"/>
              <a:t>scGPT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8046F7C-E0EC-9F30-C289-6C50539AD820}"/>
              </a:ext>
            </a:extLst>
          </p:cNvPr>
          <p:cNvSpPr txBox="1">
            <a:spLocks/>
          </p:cNvSpPr>
          <p:nvPr/>
        </p:nvSpPr>
        <p:spPr>
          <a:xfrm>
            <a:off x="838200" y="211092"/>
            <a:ext cx="10515600" cy="669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Cell type annotation with </a:t>
            </a:r>
            <a:r>
              <a:rPr lang="en-US" sz="3600" dirty="0" err="1"/>
              <a:t>scGPT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24482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7BF94-3337-EBD0-11E2-9ABF07F16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6D70B-9D24-1FCF-0A31-2988C93F9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Specify parameters</a:t>
            </a:r>
          </a:p>
          <a:p>
            <a:pPr marL="342900" indent="-342900">
              <a:buAutoNum type="arabicPeriod"/>
            </a:pPr>
            <a:r>
              <a:rPr lang="en-US" dirty="0"/>
              <a:t>Load and pre-process data</a:t>
            </a:r>
          </a:p>
          <a:p>
            <a:pPr marL="342900" indent="-342900">
              <a:buAutoNum type="arabicPeriod"/>
            </a:pPr>
            <a:r>
              <a:rPr lang="en-US" dirty="0"/>
              <a:t>Load pre-trained model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Finetune </a:t>
            </a:r>
            <a:r>
              <a:rPr lang="en-US" dirty="0" err="1"/>
              <a:t>scGPT</a:t>
            </a:r>
            <a:r>
              <a:rPr lang="en-US" dirty="0"/>
              <a:t> with task-specific objectives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Evaluate fine-tuned </a:t>
            </a:r>
            <a:r>
              <a:rPr lang="en-US" dirty="0" err="1"/>
              <a:t>scGPT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65F373E-1118-74B6-EFA2-55D903A0258B}"/>
              </a:ext>
            </a:extLst>
          </p:cNvPr>
          <p:cNvSpPr txBox="1">
            <a:spLocks/>
          </p:cNvSpPr>
          <p:nvPr/>
        </p:nvSpPr>
        <p:spPr>
          <a:xfrm>
            <a:off x="838200" y="211092"/>
            <a:ext cx="10515600" cy="669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Cell type annotation with </a:t>
            </a:r>
            <a:r>
              <a:rPr lang="en-US" sz="3600" dirty="0" err="1"/>
              <a:t>scGPT</a:t>
            </a:r>
            <a:endParaRPr lang="en-US" sz="3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5FF3E2-1ADA-5CEA-282A-DDC29D4333AC}"/>
              </a:ext>
            </a:extLst>
          </p:cNvPr>
          <p:cNvSpPr/>
          <p:nvPr/>
        </p:nvSpPr>
        <p:spPr>
          <a:xfrm>
            <a:off x="838200" y="3334215"/>
            <a:ext cx="6911898" cy="5129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2A0FF5-59F1-3D36-5A94-5C4CD4DA6003}"/>
              </a:ext>
            </a:extLst>
          </p:cNvPr>
          <p:cNvSpPr txBox="1"/>
          <p:nvPr/>
        </p:nvSpPr>
        <p:spPr>
          <a:xfrm>
            <a:off x="7059651" y="3834678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Time intensive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B256AE-3EC3-B9DB-008B-9BCA6CCAD6DB}"/>
              </a:ext>
            </a:extLst>
          </p:cNvPr>
          <p:cNvSpPr txBox="1"/>
          <p:nvPr/>
        </p:nvSpPr>
        <p:spPr>
          <a:xfrm>
            <a:off x="6222380" y="1979155"/>
            <a:ext cx="239867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Load fine-tuned model</a:t>
            </a:r>
          </a:p>
          <a:p>
            <a:r>
              <a:rPr lang="en-US" dirty="0"/>
              <a:t>	or</a:t>
            </a:r>
          </a:p>
          <a:p>
            <a:r>
              <a:rPr lang="en-US" dirty="0"/>
              <a:t>Load pre-trained model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89E884-9774-998A-F302-0801A500458C}"/>
              </a:ext>
            </a:extLst>
          </p:cNvPr>
          <p:cNvCxnSpPr>
            <a:cxnSpLocks/>
          </p:cNvCxnSpPr>
          <p:nvPr/>
        </p:nvCxnSpPr>
        <p:spPr>
          <a:xfrm flipH="1">
            <a:off x="4783873" y="2625486"/>
            <a:ext cx="1438507" cy="3693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894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2220C-EF4E-33CB-5A5F-A4E897B94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8215"/>
            <a:ext cx="10515600" cy="5128748"/>
          </a:xfrm>
        </p:spPr>
        <p:txBody>
          <a:bodyPr/>
          <a:lstStyle/>
          <a:p>
            <a:r>
              <a:rPr lang="en-US" dirty="0"/>
              <a:t>40 – 50 parameters / settings in the script </a:t>
            </a:r>
          </a:p>
          <a:p>
            <a:r>
              <a:rPr lang="en-US" dirty="0"/>
              <a:t>Types</a:t>
            </a:r>
          </a:p>
          <a:p>
            <a:pPr lvl="1"/>
            <a:r>
              <a:rPr lang="en-US" dirty="0"/>
              <a:t>settings for input and preprocessing </a:t>
            </a:r>
          </a:p>
          <a:p>
            <a:pPr lvl="1"/>
            <a:r>
              <a:rPr lang="en-US" dirty="0"/>
              <a:t>settings for training</a:t>
            </a:r>
          </a:p>
          <a:p>
            <a:pPr lvl="1"/>
            <a:r>
              <a:rPr lang="en-US" dirty="0"/>
              <a:t>settings for optimizer</a:t>
            </a:r>
          </a:p>
          <a:p>
            <a:pPr lvl="1"/>
            <a:r>
              <a:rPr lang="en-US" dirty="0"/>
              <a:t>settings for the model</a:t>
            </a:r>
          </a:p>
          <a:p>
            <a:r>
              <a:rPr lang="en-US" dirty="0"/>
              <a:t>Should be saved to .</a:t>
            </a:r>
            <a:r>
              <a:rPr lang="en-US" dirty="0" err="1"/>
              <a:t>json</a:t>
            </a:r>
            <a:r>
              <a:rPr lang="en-US" dirty="0"/>
              <a:t> file!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3595001-6B8D-56AB-EBB0-065D298030DC}"/>
              </a:ext>
            </a:extLst>
          </p:cNvPr>
          <p:cNvSpPr txBox="1">
            <a:spLocks/>
          </p:cNvSpPr>
          <p:nvPr/>
        </p:nvSpPr>
        <p:spPr>
          <a:xfrm>
            <a:off x="838200" y="211092"/>
            <a:ext cx="10515600" cy="669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Specifying parameters</a:t>
            </a:r>
          </a:p>
        </p:txBody>
      </p:sp>
    </p:spTree>
    <p:extLst>
      <p:ext uri="{BB962C8B-B14F-4D97-AF65-F5344CB8AC3E}">
        <p14:creationId xmlns:p14="http://schemas.microsoft.com/office/powerpoint/2010/main" val="3124730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569C9-95DE-7125-853B-04F623C15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79223-DE34-ECE6-CAC9-D7C79143C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8215"/>
            <a:ext cx="10515600" cy="5128748"/>
          </a:xfrm>
        </p:spPr>
        <p:txBody>
          <a:bodyPr/>
          <a:lstStyle/>
          <a:p>
            <a:r>
              <a:rPr lang="en-US" dirty="0"/>
              <a:t>Multiple Sclerosis (M.S.) dataset </a:t>
            </a:r>
            <a:r>
              <a:rPr lang="en-US" sz="1800" dirty="0"/>
              <a:t>(21312 × 3000)</a:t>
            </a:r>
          </a:p>
          <a:p>
            <a:pPr lvl="1"/>
            <a:r>
              <a:rPr lang="en-US" dirty="0"/>
              <a:t>For fine tuning (37%)</a:t>
            </a:r>
          </a:p>
          <a:p>
            <a:pPr lvl="1"/>
            <a:r>
              <a:rPr lang="en-US" dirty="0"/>
              <a:t>For testing (63%)</a:t>
            </a:r>
          </a:p>
          <a:p>
            <a:r>
              <a:rPr lang="en-US" dirty="0"/>
              <a:t>Processing (can be changed via settings)</a:t>
            </a:r>
          </a:p>
          <a:p>
            <a:pPr lvl="1"/>
            <a:r>
              <a:rPr lang="en-US" dirty="0"/>
              <a:t>Filter genes by counts: False</a:t>
            </a:r>
          </a:p>
          <a:p>
            <a:pPr lvl="1"/>
            <a:r>
              <a:rPr lang="en-US" dirty="0"/>
              <a:t>Filter cells by counts: False</a:t>
            </a:r>
          </a:p>
          <a:p>
            <a:pPr lvl="1"/>
            <a:r>
              <a:rPr lang="en-US" dirty="0"/>
              <a:t>Normalization (log1p): False (only when data is raw)</a:t>
            </a:r>
          </a:p>
          <a:p>
            <a:pPr lvl="1"/>
            <a:r>
              <a:rPr lang="en-US" dirty="0"/>
              <a:t>Use only HVGs: False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5B02EF6-62E7-C19B-72E6-8EF7897C6312}"/>
              </a:ext>
            </a:extLst>
          </p:cNvPr>
          <p:cNvSpPr txBox="1">
            <a:spLocks/>
          </p:cNvSpPr>
          <p:nvPr/>
        </p:nvSpPr>
        <p:spPr>
          <a:xfrm>
            <a:off x="838200" y="211092"/>
            <a:ext cx="10515600" cy="669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Load and pre-process data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358050-1603-9F43-D8C8-0B9863175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711" y="259117"/>
            <a:ext cx="4443761" cy="316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110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C8641-3ABF-1668-0E3E-515860F68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9DEB6-1CE6-301B-9CFB-933DD651D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8215"/>
            <a:ext cx="10515600" cy="5128748"/>
          </a:xfrm>
        </p:spPr>
        <p:txBody>
          <a:bodyPr/>
          <a:lstStyle/>
          <a:p>
            <a:r>
              <a:rPr lang="en-US" dirty="0"/>
              <a:t>whole-human model</a:t>
            </a:r>
          </a:p>
          <a:p>
            <a:r>
              <a:rPr lang="en-US" dirty="0"/>
              <a:t>Pretrained on </a:t>
            </a:r>
            <a:r>
              <a:rPr lang="en-US" dirty="0" err="1"/>
              <a:t>scRNA</a:t>
            </a:r>
            <a:r>
              <a:rPr lang="en-US" dirty="0"/>
              <a:t>-seq data of  33 million normal human cells</a:t>
            </a:r>
          </a:p>
          <a:p>
            <a:r>
              <a:rPr lang="en-US" dirty="0"/>
              <a:t>Changed script so that it works on CPU</a:t>
            </a:r>
          </a:p>
          <a:p>
            <a:r>
              <a:rPr lang="en-US" dirty="0"/>
              <a:t>Involves some parameters (use given by </a:t>
            </a:r>
            <a:r>
              <a:rPr lang="en-US" dirty="0" err="1"/>
              <a:t>args.json</a:t>
            </a:r>
            <a:r>
              <a:rPr lang="en-US" dirty="0"/>
              <a:t> file and parameters at start of script)</a:t>
            </a:r>
          </a:p>
          <a:p>
            <a:pPr lvl="1"/>
            <a:r>
              <a:rPr lang="en-US" sz="1800" dirty="0" err="1"/>
              <a:t>ntoken</a:t>
            </a:r>
            <a:r>
              <a:rPr lang="en-US" sz="1800" dirty="0"/>
              <a:t>, </a:t>
            </a:r>
            <a:r>
              <a:rPr lang="en-US" sz="1800" dirty="0" err="1"/>
              <a:t>d_model</a:t>
            </a:r>
            <a:r>
              <a:rPr lang="en-US" sz="1800" dirty="0"/>
              <a:t>, </a:t>
            </a:r>
            <a:r>
              <a:rPr lang="en-US" sz="1800" dirty="0" err="1"/>
              <a:t>nheads</a:t>
            </a:r>
            <a:r>
              <a:rPr lang="en-US" sz="1800" dirty="0"/>
              <a:t>, </a:t>
            </a:r>
            <a:r>
              <a:rPr lang="en-US" sz="1800" dirty="0" err="1"/>
              <a:t>d_hid</a:t>
            </a:r>
            <a:r>
              <a:rPr lang="en-US" sz="1800" dirty="0"/>
              <a:t>, </a:t>
            </a:r>
            <a:r>
              <a:rPr lang="en-US" sz="1800" dirty="0" err="1"/>
              <a:t>nlayers</a:t>
            </a:r>
            <a:endParaRPr lang="en-US" sz="1800" dirty="0"/>
          </a:p>
          <a:p>
            <a:pPr lvl="1"/>
            <a:r>
              <a:rPr lang="en-US" sz="1800" dirty="0" err="1"/>
              <a:t>do_mvc</a:t>
            </a:r>
            <a:r>
              <a:rPr lang="en-US" sz="1800" dirty="0"/>
              <a:t> (masked value prediction for cell embedding): False</a:t>
            </a:r>
          </a:p>
          <a:p>
            <a:pPr lvl="1"/>
            <a:r>
              <a:rPr lang="en-US" sz="1800" dirty="0" err="1"/>
              <a:t>do_dab</a:t>
            </a:r>
            <a:r>
              <a:rPr lang="en-US" sz="1800" dirty="0"/>
              <a:t> (domain adaptation by reverse backpropagation): False</a:t>
            </a:r>
          </a:p>
          <a:p>
            <a:pPr lvl="1"/>
            <a:r>
              <a:rPr lang="en-US" sz="1800" dirty="0" err="1"/>
              <a:t>num_batch_labels</a:t>
            </a:r>
            <a:r>
              <a:rPr lang="en-US" sz="1800" dirty="0"/>
              <a:t>, </a:t>
            </a:r>
            <a:r>
              <a:rPr lang="en-US" sz="1800" dirty="0" err="1"/>
              <a:t>input_emb_style</a:t>
            </a:r>
            <a:r>
              <a:rPr lang="en-US" sz="1800" dirty="0"/>
              <a:t>, dropout, </a:t>
            </a:r>
            <a:r>
              <a:rPr lang="en-US" sz="1800" dirty="0" err="1"/>
              <a:t>mvc_decoder_style</a:t>
            </a:r>
            <a:r>
              <a:rPr lang="en-US" sz="1800" dirty="0"/>
              <a:t>, …</a:t>
            </a:r>
          </a:p>
          <a:p>
            <a:endParaRPr lang="en-US" sz="2200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38CA654-35F0-2D9B-67C5-9D74257FA03F}"/>
              </a:ext>
            </a:extLst>
          </p:cNvPr>
          <p:cNvSpPr txBox="1">
            <a:spLocks/>
          </p:cNvSpPr>
          <p:nvPr/>
        </p:nvSpPr>
        <p:spPr>
          <a:xfrm>
            <a:off x="838200" y="211092"/>
            <a:ext cx="10515600" cy="669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Load pre-trained model</a:t>
            </a:r>
          </a:p>
        </p:txBody>
      </p:sp>
    </p:spTree>
    <p:extLst>
      <p:ext uri="{BB962C8B-B14F-4D97-AF65-F5344CB8AC3E}">
        <p14:creationId xmlns:p14="http://schemas.microsoft.com/office/powerpoint/2010/main" val="1806367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9F5DC-1E7A-A247-79F0-DD33FFBCC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E8073-365E-A08C-E1E4-A0A03E2EF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8215"/>
            <a:ext cx="10515600" cy="5128748"/>
          </a:xfrm>
        </p:spPr>
        <p:txBody>
          <a:bodyPr/>
          <a:lstStyle/>
          <a:p>
            <a:r>
              <a:rPr lang="en-US" dirty="0"/>
              <a:t>Train pre-trained model on labelled data set </a:t>
            </a:r>
          </a:p>
          <a:p>
            <a:pPr lvl="1"/>
            <a:r>
              <a:rPr lang="en-US" dirty="0"/>
              <a:t>Batch 0 : train</a:t>
            </a:r>
          </a:p>
          <a:p>
            <a:pPr lvl="1"/>
            <a:r>
              <a:rPr lang="en-US" dirty="0"/>
              <a:t>Batch 1 : test</a:t>
            </a:r>
          </a:p>
          <a:p>
            <a:r>
              <a:rPr lang="en-US" dirty="0"/>
              <a:t>For other datasets:</a:t>
            </a:r>
          </a:p>
          <a:p>
            <a:pPr lvl="1"/>
            <a:r>
              <a:rPr lang="en-US" dirty="0"/>
              <a:t>Should I choose random cells?</a:t>
            </a:r>
          </a:p>
          <a:p>
            <a:r>
              <a:rPr lang="en-US" dirty="0"/>
              <a:t>Is it possible to skip this step?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27CBC3-81FC-B69F-A1E8-9223B0D362A0}"/>
              </a:ext>
            </a:extLst>
          </p:cNvPr>
          <p:cNvSpPr txBox="1">
            <a:spLocks/>
          </p:cNvSpPr>
          <p:nvPr/>
        </p:nvSpPr>
        <p:spPr>
          <a:xfrm>
            <a:off x="838200" y="211092"/>
            <a:ext cx="10515600" cy="669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Fine-tuning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6E35BE-6275-26DE-4F04-80140BF1D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617" y="1453766"/>
            <a:ext cx="6497383" cy="463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913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D7DA7-DDA7-9CBD-D340-9ECB2067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092"/>
            <a:ext cx="10515600" cy="669855"/>
          </a:xfrm>
        </p:spPr>
        <p:txBody>
          <a:bodyPr>
            <a:normAutofit/>
          </a:bodyPr>
          <a:lstStyle/>
          <a:p>
            <a:r>
              <a:rPr lang="en-US" sz="3600" dirty="0"/>
              <a:t>Prediction of Multiple Sclerosis (M.S.) dataset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15E6F47-F5BE-A7AB-2103-250B397F68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4612" y="880947"/>
            <a:ext cx="8082776" cy="59267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81C996-32F7-E7B9-AC89-D71984640FA4}"/>
              </a:ext>
            </a:extLst>
          </p:cNvPr>
          <p:cNvSpPr txBox="1"/>
          <p:nvPr/>
        </p:nvSpPr>
        <p:spPr>
          <a:xfrm>
            <a:off x="10333930" y="6062133"/>
            <a:ext cx="166153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Cores: 10</a:t>
            </a:r>
          </a:p>
          <a:p>
            <a:r>
              <a:rPr lang="en-US" sz="1600" dirty="0" err="1"/>
              <a:t>Batch_size</a:t>
            </a:r>
            <a:r>
              <a:rPr lang="en-US" sz="1600" dirty="0"/>
              <a:t>: 32</a:t>
            </a:r>
          </a:p>
        </p:txBody>
      </p:sp>
    </p:spTree>
    <p:extLst>
      <p:ext uri="{BB962C8B-B14F-4D97-AF65-F5344CB8AC3E}">
        <p14:creationId xmlns:p14="http://schemas.microsoft.com/office/powerpoint/2010/main" val="1796025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0478-D72C-7A9A-15F8-ED45E1DDF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EDBD207-8437-1770-6358-B7C6BCB28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76" y="880947"/>
            <a:ext cx="6414739" cy="641473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E41BFCB-AFB7-0831-A362-F9DFA05D19B7}"/>
              </a:ext>
            </a:extLst>
          </p:cNvPr>
          <p:cNvSpPr txBox="1">
            <a:spLocks/>
          </p:cNvSpPr>
          <p:nvPr/>
        </p:nvSpPr>
        <p:spPr>
          <a:xfrm>
            <a:off x="838200" y="211092"/>
            <a:ext cx="10515600" cy="669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Prediction of Multiple Sclerosis (M.S.) dataset</a:t>
            </a:r>
            <a:endParaRPr lang="en-US" sz="3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6B251B-F988-572B-E368-38EE25690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922" y="2194389"/>
            <a:ext cx="4216111" cy="42517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EEBF261-0A52-DC90-3F13-DE2D6EAB4862}"/>
              </a:ext>
            </a:extLst>
          </p:cNvPr>
          <p:cNvSpPr txBox="1"/>
          <p:nvPr/>
        </p:nvSpPr>
        <p:spPr>
          <a:xfrm>
            <a:off x="8575287" y="1825057"/>
            <a:ext cx="2860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scGPT</a:t>
            </a:r>
            <a:r>
              <a:rPr lang="en-US" dirty="0"/>
              <a:t> GitHub tutorial result: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4D06AF-2EFE-835D-6A02-983CD12DA4C5}"/>
              </a:ext>
            </a:extLst>
          </p:cNvPr>
          <p:cNvSpPr txBox="1"/>
          <p:nvPr/>
        </p:nvSpPr>
        <p:spPr>
          <a:xfrm>
            <a:off x="175169" y="5977053"/>
            <a:ext cx="166153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Cores: 10</a:t>
            </a:r>
          </a:p>
          <a:p>
            <a:r>
              <a:rPr lang="en-US" sz="1600" dirty="0" err="1"/>
              <a:t>Batch_size</a:t>
            </a:r>
            <a:r>
              <a:rPr lang="en-US" sz="1600" dirty="0"/>
              <a:t>: 32</a:t>
            </a:r>
          </a:p>
        </p:txBody>
      </p:sp>
    </p:spTree>
    <p:extLst>
      <p:ext uri="{BB962C8B-B14F-4D97-AF65-F5344CB8AC3E}">
        <p14:creationId xmlns:p14="http://schemas.microsoft.com/office/powerpoint/2010/main" val="3564142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31522-A591-C0DB-D481-C6499E21C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8D215-622E-41DE-E77A-8DC95C8FC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092"/>
            <a:ext cx="10515600" cy="669855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Prediction of Multiple Sclerosis (M.S.) dataset </a:t>
            </a:r>
            <a:br>
              <a:rPr lang="en-US" sz="3600" dirty="0"/>
            </a:br>
            <a:r>
              <a:rPr lang="en-US" sz="3600" dirty="0"/>
              <a:t>without fine-tuning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AC127C-DA4D-03CD-229C-9E80543FC072}"/>
              </a:ext>
            </a:extLst>
          </p:cNvPr>
          <p:cNvSpPr txBox="1"/>
          <p:nvPr/>
        </p:nvSpPr>
        <p:spPr>
          <a:xfrm>
            <a:off x="10378070" y="5995333"/>
            <a:ext cx="166153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Without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9B37F5-561A-0FB4-4DE0-A0D7B1CE6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6DA940-63FC-1D06-EF40-1A1E64D10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47747"/>
            <a:ext cx="7772400" cy="569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702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0177F-53C7-7E74-285D-0010021DC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3C37C-96AF-94D3-605E-47A278376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586"/>
            <a:ext cx="10515600" cy="669855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Prediction of Multiple Sclerosis (M.S.) dataset </a:t>
            </a:r>
            <a:br>
              <a:rPr lang="en-US" sz="3600" dirty="0"/>
            </a:br>
            <a:r>
              <a:rPr lang="en-US" sz="3600" dirty="0"/>
              <a:t>without fine-tuning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F78855-A1D2-E5C5-ADE1-B3309EA4C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984A43-6BE3-F489-0287-80AB8FD5E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078" y="1165303"/>
            <a:ext cx="5887844" cy="588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06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637C4-E2CA-051E-28FD-837628940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C3E4CD9-9CA4-67C7-8017-0FE05685F862}"/>
              </a:ext>
            </a:extLst>
          </p:cNvPr>
          <p:cNvSpPr txBox="1">
            <a:spLocks/>
          </p:cNvSpPr>
          <p:nvPr/>
        </p:nvSpPr>
        <p:spPr>
          <a:xfrm>
            <a:off x="838200" y="211092"/>
            <a:ext cx="10515600" cy="669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Runtime of jobs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EEF861-BA39-5C82-0C55-729B02E1E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951" y="880947"/>
            <a:ext cx="9168097" cy="567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713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5790</TotalTime>
  <Words>361</Words>
  <Application>Microsoft Macintosh PowerPoint</Application>
  <PresentationFormat>Widescreen</PresentationFormat>
  <Paragraphs>64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Progress 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Prediction of Multiple Sclerosis (M.S.) dataset</vt:lpstr>
      <vt:lpstr>PowerPoint Presentation</vt:lpstr>
      <vt:lpstr>Prediction of Multiple Sclerosis (M.S.) dataset  without fine-tuning</vt:lpstr>
      <vt:lpstr>Prediction of Multiple Sclerosis (M.S.) dataset  without fine-tuning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Selina Ernst </dc:creator>
  <cp:lastModifiedBy>Selina Ernst </cp:lastModifiedBy>
  <cp:revision>1</cp:revision>
  <dcterms:created xsi:type="dcterms:W3CDTF">2026-09-18T09:24:05Z</dcterms:created>
  <dcterms:modified xsi:type="dcterms:W3CDTF">2026-09-22T09:54:32Z</dcterms:modified>
</cp:coreProperties>
</file>