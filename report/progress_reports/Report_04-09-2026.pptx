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57" r:id="rId7"/>
    <p:sldId id="258" r:id="rId8"/>
    <p:sldId id="263" r:id="rId9"/>
    <p:sldId id="264" r:id="rId10"/>
    <p:sldId id="267" r:id="rId11"/>
    <p:sldId id="265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69"/>
  </p:normalViewPr>
  <p:slideViewPr>
    <p:cSldViewPr snapToGrid="0">
      <p:cViewPr varScale="1">
        <p:scale>
          <a:sx n="95" d="100"/>
          <a:sy n="95" d="100"/>
        </p:scale>
        <p:origin x="200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AD1E7-8B13-673D-292E-89CD5EF0F3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363FF4-E865-902F-C6A4-F14C31563F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D036B-1F58-7579-C98D-642ED1379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35BFC-65C2-9B4F-9A0C-97242585F32F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7EF08-428F-CA0C-2191-C5D1C2E11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96C99-58EF-9C10-7298-188470934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2A30-38B5-F346-8FC2-D61084976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987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07DCF-7D55-FEE2-6A38-527203095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4B8C4-C8AF-B1F1-BE1C-F70123929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1FC40-A457-B7B3-0F72-2F600FB3F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35BFC-65C2-9B4F-9A0C-97242585F32F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9F0C3-6D2E-4F2D-E07A-8008FE15B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46884-8698-22E3-10CA-322ADA9DA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2A30-38B5-F346-8FC2-D61084976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994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8F7EC-E917-5E52-A108-123D2BE68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F63131-3274-F742-F6EA-AB3E4EDBC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E228C-5933-6634-2DB2-FDA7D90B2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35BFC-65C2-9B4F-9A0C-97242585F32F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05F34-F6F9-34F5-0405-E1B1AE0C0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163B0-FE00-64EE-CE92-D1BE28FF3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2A30-38B5-F346-8FC2-D61084976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5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E4F7E-E862-8097-0DA1-43C90F3BE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F5539-DBC6-5AF6-AA35-5152920479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2A49BD-7DE6-27FD-46BA-86E795883C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9AB4F-D75D-F340-B744-2BC2A39D6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35BFC-65C2-9B4F-9A0C-97242585F32F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17332-1AA7-3C64-109B-52FAADF53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28B2E-DB1B-D339-B4F2-66FCD87E9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2A30-38B5-F346-8FC2-D61084976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724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4B968-0464-A7E6-7378-BE3EF05CF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EF36A-CAFB-62A0-A7A8-F5200DAA0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122F30-7433-9A12-9FDD-6644E856D0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71D69B-260C-4405-870C-8EDF5E5707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5B1382-CA5B-6097-2002-B3438E4577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44B7D6-EDD3-4E56-8899-8A0C69E45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35BFC-65C2-9B4F-9A0C-97242585F32F}" type="datetimeFigureOut">
              <a:rPr lang="en-US" smtClean="0"/>
              <a:t>9/4/26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E1D21C-1014-17D8-D65F-3022D88D5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BAC1A8-5937-AEEB-70A7-BE0920B7B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2A30-38B5-F346-8FC2-D61084976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172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C3FDC-8484-77EF-3AF4-FC7A29A1F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2AB6D-3200-557A-9206-6557E4282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35BFC-65C2-9B4F-9A0C-97242585F32F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C3E9F9-2DC2-9420-4E68-155FBA3B4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7C45A-F864-8B16-3633-FB43FE965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2A30-38B5-F346-8FC2-D61084976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619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E927F8-AC55-9437-CDA6-60DB0768A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35BFC-65C2-9B4F-9A0C-97242585F32F}" type="datetimeFigureOut">
              <a:rPr lang="en-US" smtClean="0"/>
              <a:t>9/4/26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EEB9CF-4AD1-F71F-AE2E-046F17D74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6D97B-1E8C-A221-854F-9FA5AB777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2A30-38B5-F346-8FC2-D61084976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110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DFF1B-1352-9658-AC5B-FD3FFE913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6D16E-3F96-438F-7C65-157E94C70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C0BED0-83A9-DC24-4BCD-C862FB5DB2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CF0E12-9C09-4A20-8CA5-10B594EE6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35BFC-65C2-9B4F-9A0C-97242585F32F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A43431-16B7-90D3-1DDC-E1E2ED8B0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ECE640-B454-B282-C9DC-F27840CC5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2A30-38B5-F346-8FC2-D61084976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307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7D2E6-AF3D-3314-492E-CDED741DD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A02B1F-C768-0433-9E86-DA9E97C9BA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680D54-A185-896C-BA3F-7A2767F9F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BD4CE6-36E1-D91D-9D6B-1E6DEA238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35BFC-65C2-9B4F-9A0C-97242585F32F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ABAFE3-A1AD-290E-F77F-1790FDC50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DAE45-9460-3951-5169-2C65B1DBC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2A30-38B5-F346-8FC2-D61084976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252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AEB4E-081F-4788-F00B-C64BAB511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684ED-39A4-2675-81E5-E4A9EDD96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3B334-7918-F54E-CBD1-71BA3BDDC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35BFC-65C2-9B4F-9A0C-97242585F32F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F454D-D70E-8679-3800-4191DFF4E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2FD1C-63F8-14D7-61F7-EB7AAAECD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2A30-38B5-F346-8FC2-D61084976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078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95B10C-7581-95AC-BE33-D3527A7AD8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56CAED-50B8-DEC1-9CCE-5CA948DA1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1E25F-EDD8-A0C1-47DB-077AC0F5F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35BFC-65C2-9B4F-9A0C-97242585F32F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76375-742B-FB2D-5F42-D789CD485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BB068-1F80-30FF-E16F-7C4A110C9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92A30-38B5-F346-8FC2-D61084976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255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C18AFE-02D1-48D8-1FDC-95FB33981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C810DC-7FC1-5689-C839-070BF0AC2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76134-D287-65C5-6854-C56233EF16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35BFC-65C2-9B4F-9A0C-97242585F32F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18D62-D1FB-437C-1DEF-C907424DA8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EDD17-36DC-2522-77FF-B137355CE8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B92A30-38B5-F346-8FC2-D61084976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646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cluster-support@dkfz-heidelberg.de" TargetMode="External"/><Relationship Id="rId2" Type="http://schemas.openxmlformats.org/officeDocument/2006/relationships/hyperlink" Target="https://wiki.odcf.dkfz.de/pub/cluster/lsf/gpu/start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0CB99-8D2A-0505-BADE-AAB8B6E480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Progress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FE46A2-141C-AC85-019D-4FD11270D7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04.09.2026</a:t>
            </a:r>
          </a:p>
        </p:txBody>
      </p:sp>
    </p:spTree>
    <p:extLst>
      <p:ext uri="{BB962C8B-B14F-4D97-AF65-F5344CB8AC3E}">
        <p14:creationId xmlns:p14="http://schemas.microsoft.com/office/powerpoint/2010/main" val="709948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46CB5-F875-98BA-E81E-55197D825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PBMC3k data: QC metrics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6F5EF7-62A5-091A-4DFD-B700135B65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41194"/>
            <a:ext cx="10515600" cy="392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97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6C68A-8634-5579-95D9-EC37D93E4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69543-A91B-3EE9-7DDA-443C70391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Outliers (Scanpy workflow)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7BD84E2-6203-DEFF-DF4A-8E86A585B4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62067"/>
            <a:ext cx="10515600" cy="387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716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A4F83-D8EC-3335-4ED8-85B885698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Outliers (MAD approach)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FCD0594-8038-C834-50FB-2807D7E35D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62067"/>
            <a:ext cx="10515600" cy="387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827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72A59-71B0-6383-AB90-EAB12DB11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28E27-CCC5-2ED7-4FBA-325F1EF7B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Outliers (MAD approach)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213CAE2-D102-322A-DF88-E749377F8B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41194"/>
            <a:ext cx="10515600" cy="392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15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DA479-FFAE-DC6C-75B4-7246FE718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Playing around with PCA Parameters (sc)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8713F-A924-1770-5D6B-655A65BDC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763644" cy="4351338"/>
          </a:xfrm>
        </p:spPr>
        <p:txBody>
          <a:bodyPr>
            <a:normAutofit/>
          </a:bodyPr>
          <a:lstStyle/>
          <a:p>
            <a:r>
              <a:rPr lang="en-US" sz="1400"/>
              <a:t>PCA: 40, RES: 0.7 - 8 clusters</a:t>
            </a:r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r>
              <a:rPr lang="en-US" sz="1400"/>
              <a:t>PCA: 10, RES: 0.7 – 11 clusters</a:t>
            </a:r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pPr marL="0" indent="0">
              <a:buNone/>
            </a:pPr>
            <a:endParaRPr lang="en-US" sz="1400"/>
          </a:p>
          <a:p>
            <a:endParaRPr lang="en-US" sz="1400"/>
          </a:p>
          <a:p>
            <a:endParaRPr lang="en-US" sz="1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961FC1-76E2-E382-FF05-67569FDE5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642" y="1660138"/>
            <a:ext cx="2341740" cy="21334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3B5CFD-19EB-8AFD-0025-9116F7EF2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124" y="3793564"/>
            <a:ext cx="2406390" cy="21334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DE6B46-53BD-7177-6072-B0BA9E9ED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2060" y="1660138"/>
            <a:ext cx="2341740" cy="2133426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94502F5-9B84-0A32-AF00-41ACD984FF2B}"/>
              </a:ext>
            </a:extLst>
          </p:cNvPr>
          <p:cNvSpPr txBox="1">
            <a:spLocks/>
          </p:cNvSpPr>
          <p:nvPr/>
        </p:nvSpPr>
        <p:spPr>
          <a:xfrm>
            <a:off x="6359619" y="1822450"/>
            <a:ext cx="276364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/>
              <a:t>PCA: 10, RES: 0.3 – 8 clusters</a:t>
            </a:r>
          </a:p>
          <a:p>
            <a:endParaRPr lang="en-US" sz="1400"/>
          </a:p>
          <a:p>
            <a:endParaRPr lang="en-US" sz="14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80F18D-74A7-1979-A499-CF4EB690A3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4761" y="4021096"/>
            <a:ext cx="4294598" cy="2471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857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FFBD2-1D23-6E5C-B3D5-5E9F42AA9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Clustering with MAD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42A33-D0F2-2AFB-D591-2DB2FC8AE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PCAs: 10, RES: 0.35 – 8 clusters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	Megakaryocytes?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F7975-E7A2-E8C0-D89D-5E4085E3F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946" y="1464794"/>
            <a:ext cx="4977161" cy="45344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FABC97-17F8-D6F2-0891-25AD5498E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468" y="2590742"/>
            <a:ext cx="4901532" cy="282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084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64894-F534-BCB8-528F-C6BA0799D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EF01ED-157B-0F92-E7DE-7A3C69256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72" y="2590742"/>
            <a:ext cx="4901532" cy="28211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922A53-76C1-6487-7C0C-43D097EC1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945" y="1464795"/>
            <a:ext cx="4977161" cy="45344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DF3387-A0DF-641A-4ADE-EDB39339B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Clustering with MAD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22F45-3473-B978-2FAB-8F5B55178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PCAs: 10, RES: 0.3 – 7 clusters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	Megakaryocytes?</a:t>
            </a:r>
          </a:p>
        </p:txBody>
      </p:sp>
    </p:spTree>
    <p:extLst>
      <p:ext uri="{BB962C8B-B14F-4D97-AF65-F5344CB8AC3E}">
        <p14:creationId xmlns:p14="http://schemas.microsoft.com/office/powerpoint/2010/main" val="1857411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FFC2-818B-18FB-6875-A08DC3772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scGPT – Annotation tutorial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B7810-5644-6062-F2E4-7DFB4667D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current status: running 48h job</a:t>
            </a:r>
          </a:p>
          <a:p>
            <a:pPr lvl="1"/>
            <a:r>
              <a:rPr lang="en-US"/>
              <a:t>Start: yesterday 14:22 </a:t>
            </a:r>
          </a:p>
          <a:p>
            <a:endParaRPr lang="en-US">
              <a:solidFill>
                <a:srgbClr val="FF0000"/>
              </a:solidFill>
            </a:endParaRPr>
          </a:p>
          <a:p>
            <a:endParaRPr lang="en-US">
              <a:solidFill>
                <a:srgbClr val="FF0000"/>
              </a:solidFill>
            </a:endParaRPr>
          </a:p>
          <a:p>
            <a:endParaRPr lang="en-US">
              <a:solidFill>
                <a:srgbClr val="FF0000"/>
              </a:solidFill>
            </a:endParaRPr>
          </a:p>
          <a:p>
            <a:endParaRPr lang="en-US">
              <a:solidFill>
                <a:srgbClr val="FF0000"/>
              </a:solidFill>
            </a:endParaRPr>
          </a:p>
          <a:p>
            <a:r>
              <a:rPr lang="en-US"/>
              <a:t>Next: Should I set up GPU?</a:t>
            </a:r>
          </a:p>
          <a:p>
            <a:pPr lvl="1"/>
            <a:r>
              <a:rPr lang="en-US">
                <a:hlinkClick r:id="rId2"/>
              </a:rPr>
              <a:t>https://wiki.odcf.dkfz.de/pub/cluster/lsf/gpu/start</a:t>
            </a:r>
            <a:r>
              <a:rPr lang="en-US"/>
              <a:t> </a:t>
            </a:r>
          </a:p>
          <a:p>
            <a:pPr lvl="1"/>
            <a:r>
              <a:rPr lang="en-US"/>
              <a:t>Again ask for access to the GPU queue: </a:t>
            </a:r>
            <a:r>
              <a:rPr lang="en-US">
                <a:hlinkClick r:id="rId3"/>
              </a:rPr>
              <a:t>cluster-support@dkfz-heidelberg.de</a:t>
            </a:r>
            <a:r>
              <a:rPr lang="en-US"/>
              <a:t> </a:t>
            </a:r>
          </a:p>
          <a:p>
            <a:pPr lvl="1"/>
            <a:r>
              <a:rPr lang="en-US"/>
              <a:t>See if scGPT can work with GPU </a:t>
            </a:r>
          </a:p>
          <a:p>
            <a:pPr lvl="1"/>
            <a:r>
              <a:rPr lang="en-US"/>
              <a:t>Transfer data: /dkfz/cluster/gpu/data ?</a:t>
            </a:r>
          </a:p>
          <a:p>
            <a:pPr lvl="1"/>
            <a:r>
              <a:rPr lang="en-US"/>
              <a:t>Output of scripts at: /dkfz/cluster/gpu/checkpoints/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67EE96-8B93-92EA-AB7D-BF05A6CD7DBC}"/>
              </a:ext>
            </a:extLst>
          </p:cNvPr>
          <p:cNvSpPr txBox="1"/>
          <p:nvPr/>
        </p:nvSpPr>
        <p:spPr>
          <a:xfrm>
            <a:off x="6895914" y="1690688"/>
            <a:ext cx="4646144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#BSUB -J scGPT_annotation_tutorial</a:t>
            </a:r>
          </a:p>
          <a:p>
            <a:r>
              <a:rPr lang="en-US"/>
              <a:t>#BSUB -q verylong</a:t>
            </a:r>
          </a:p>
          <a:p>
            <a:r>
              <a:rPr lang="en-US"/>
              <a:t>#BSUB -n 10</a:t>
            </a:r>
          </a:p>
          <a:p>
            <a:r>
              <a:rPr lang="en-US"/>
              <a:t>#BSUB -R "rusage[mem=200GB] span[hosts=1]"</a:t>
            </a:r>
          </a:p>
          <a:p>
            <a:r>
              <a:rPr lang="en-US"/>
              <a:t>#BSUB -W 48:00</a:t>
            </a:r>
          </a:p>
          <a:p>
            <a:r>
              <a:rPr lang="en-US"/>
              <a:t>#BSUB -o </a:t>
            </a:r>
          </a:p>
          <a:p>
            <a:r>
              <a:rPr lang="en-US"/>
              <a:t>#BSUB -e 	</a:t>
            </a:r>
          </a:p>
        </p:txBody>
      </p:sp>
    </p:spTree>
    <p:extLst>
      <p:ext uri="{BB962C8B-B14F-4D97-AF65-F5344CB8AC3E}">
        <p14:creationId xmlns:p14="http://schemas.microsoft.com/office/powerpoint/2010/main" val="2922299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717E5-C33A-FFDF-2D57-719422578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D9293-AED4-6217-6410-72872B027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scGPT – Annotation tutorial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1E012-D334-A2CF-EF24-2C931DABA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Data: Multiple Sclerosis (M.S.) dataset	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0BD473-1FA0-98C3-F22E-5F7D842B4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23" y="2810073"/>
            <a:ext cx="9229115" cy="3501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513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1A671-8FA0-35EE-FEC0-5260AEEDB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C864D-77BC-884F-15EA-65DD23149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scGPT – Annotation tutorial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0A09B-81F9-9FB2-72E7-2BE81EA80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Data: Multiple Sclerosis (M.S.) dataset	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EEA2A1-7CB4-4E0B-0ACA-E8AAF955E4EE}"/>
              </a:ext>
            </a:extLst>
          </p:cNvPr>
          <p:cNvSpPr txBox="1"/>
          <p:nvPr/>
        </p:nvSpPr>
        <p:spPr>
          <a:xfrm>
            <a:off x="6804211" y="3028890"/>
            <a:ext cx="48678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Data set size: 21 312 x 3000</a:t>
            </a:r>
          </a:p>
          <a:p>
            <a:endParaRPr lang="en-US"/>
          </a:p>
          <a:p>
            <a:r>
              <a:rPr lang="en-US"/>
              <a:t>Fine tuning model with 37%: 7844 cells (Batch 0)</a:t>
            </a:r>
          </a:p>
          <a:p>
            <a:r>
              <a:rPr lang="en-US"/>
              <a:t> </a:t>
            </a:r>
          </a:p>
          <a:p>
            <a:r>
              <a:rPr lang="en-US"/>
              <a:t>Test with 63%: 13468 cells (Batch 1)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E5B7E1-DD3B-525A-1DF9-F0B5536AF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22" y="2810073"/>
            <a:ext cx="5136777" cy="366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586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5EFF5-A620-F774-87DA-EC106D194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CD4D5-BBF4-0CF5-0FAD-221B7CF0C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Internship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BD313-525A-5500-A0BD-C65305E05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Prepare example data set for analysis</a:t>
            </a:r>
          </a:p>
          <a:p>
            <a:pPr lvl="1"/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PBMC3k (from scanpy legacy workflow)</a:t>
            </a:r>
          </a:p>
          <a:p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Install scGPT package (CPU-only)</a:t>
            </a:r>
          </a:p>
          <a:p>
            <a:r>
              <a:rPr lang="en-US"/>
              <a:t>Get example script running</a:t>
            </a:r>
          </a:p>
          <a:p>
            <a:pPr lvl="1"/>
            <a:r>
              <a:rPr lang="en-US"/>
              <a:t>Example: Annotation Tutorial with MS dataset </a:t>
            </a:r>
          </a:p>
          <a:p>
            <a:pPr lvl="1"/>
            <a:r>
              <a:rPr lang="en-US"/>
              <a:t>Compare results</a:t>
            </a:r>
          </a:p>
          <a:p>
            <a:r>
              <a:rPr lang="en-US"/>
              <a:t>Run with GPU ?</a:t>
            </a:r>
          </a:p>
          <a:p>
            <a:r>
              <a:rPr lang="en-US" b="1"/>
              <a:t>Focus:</a:t>
            </a:r>
            <a:r>
              <a:rPr lang="en-US"/>
              <a:t> Learning how scGPT handles cell annotation</a:t>
            </a:r>
          </a:p>
          <a:p>
            <a:pPr lvl="1"/>
            <a:r>
              <a:rPr lang="en-US"/>
              <a:t>Other workflows: Batch Integration, Perturbation Prediction,  Multiomic Integration</a:t>
            </a:r>
          </a:p>
          <a:p>
            <a:pPr lvl="1"/>
            <a:r>
              <a:rPr lang="en-US"/>
              <a:t>More: Reference Mapping, GRN (Gene regulatory network) Inference</a:t>
            </a:r>
          </a:p>
          <a:p>
            <a:r>
              <a:rPr lang="en-US" b="1"/>
              <a:t>Goal:</a:t>
            </a:r>
            <a:r>
              <a:rPr lang="en-US"/>
              <a:t> Test workflow with example data set / Katherines' data set</a:t>
            </a:r>
          </a:p>
          <a:p>
            <a:pPr lvl="1"/>
            <a:r>
              <a:rPr lang="en-US"/>
              <a:t>Compare predicted cell type annotations to existing ones</a:t>
            </a:r>
          </a:p>
        </p:txBody>
      </p:sp>
    </p:spTree>
    <p:extLst>
      <p:ext uri="{BB962C8B-B14F-4D97-AF65-F5344CB8AC3E}">
        <p14:creationId xmlns:p14="http://schemas.microsoft.com/office/powerpoint/2010/main" val="2824993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C6C48-3707-FC63-DD9F-5810A575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5B6B1-4F9F-1220-312B-782C4C266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Median absolut deviation (MAD) </a:t>
            </a:r>
          </a:p>
          <a:p>
            <a:r>
              <a:rPr lang="en-US"/>
              <a:t>Thresholds</a:t>
            </a:r>
          </a:p>
          <a:p>
            <a:pPr lvl="1"/>
            <a:r>
              <a:rPr lang="en-US"/>
              <a:t>Top: Mean + n * MAD</a:t>
            </a:r>
          </a:p>
          <a:p>
            <a:pPr lvl="1"/>
            <a:r>
              <a:rPr lang="en-US"/>
              <a:t>Bottom: Mean – n * MAD</a:t>
            </a:r>
          </a:p>
          <a:p>
            <a:r>
              <a:rPr lang="en-US"/>
              <a:t>Outliers are above top threshold / below bottom threshold</a:t>
            </a:r>
          </a:p>
        </p:txBody>
      </p:sp>
    </p:spTree>
    <p:extLst>
      <p:ext uri="{BB962C8B-B14F-4D97-AF65-F5344CB8AC3E}">
        <p14:creationId xmlns:p14="http://schemas.microsoft.com/office/powerpoint/2010/main" val="4086940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416</Words>
  <Application>Microsoft Macintosh PowerPoint</Application>
  <PresentationFormat>Widescreen</PresentationFormat>
  <Paragraphs>90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Progress Report</vt:lpstr>
      <vt:lpstr>PBMC3k data: QC metrics</vt:lpstr>
      <vt:lpstr>Outliers (Scanpy workflow)</vt:lpstr>
      <vt:lpstr>Outliers (MAD approach)</vt:lpstr>
      <vt:lpstr>Outliers (MAD approach)</vt:lpstr>
      <vt:lpstr>Playing around with PCA Parameters (sc)</vt:lpstr>
      <vt:lpstr>Clustering with MAD approach</vt:lpstr>
      <vt:lpstr>Clustering with MAD approach</vt:lpstr>
      <vt:lpstr>scGPT – Annotation tutorial</vt:lpstr>
      <vt:lpstr>scGPT – Annotation tutorial</vt:lpstr>
      <vt:lpstr>scGPT – Annotation tutorial</vt:lpstr>
      <vt:lpstr>Internship Objectives</vt:lpstr>
      <vt:lpstr>MAD approach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Selina Ernst </dc:creator>
  <cp:lastModifiedBy>Selina Ernst </cp:lastModifiedBy>
  <cp:revision>2</cp:revision>
  <dcterms:created xsi:type="dcterms:W3CDTF">2026-09-04T08:43:01Z</dcterms:created>
  <dcterms:modified xsi:type="dcterms:W3CDTF">2026-09-04T13:22:23Z</dcterms:modified>
</cp:coreProperties>
</file>